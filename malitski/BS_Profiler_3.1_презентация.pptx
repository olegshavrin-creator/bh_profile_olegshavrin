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Схема всего продукта слева направо. 1) Видео: человек говорит в камеру, русская речь; ролик загружают на веб-странице. 2) Подготовка: ролик длиннее 30 секунд режется на отрезки по 20 секунд (ffmpeg); Whisper large-v3-turbo один раз распознаёт всю речь с метками времени, и каждый отрезок получает свой текст. 3–4) Дальше на каждом отрезке идут две ветки. Оценка личности по Big Five — моделью, которую выбрал пользователь: AMLAI 1.0 (по умолчанию) или OCEAN-AI с весами MuPTA. Параллельно — анализ поведения: эмоции по смыслу речи (7 эмоций), выражение лица (7 классов) и движение головы, голос (возбуждение, уверенность, позитивность), темп речи, паузы и слова-заполнители. 5) Сведение: средние по ролику с учётом длины отрезков, разброс и линия времени; из Big Five получается тип MBTI; по числам строится характеристика личности простыми словами. 6) Результат: веб-страница с 8 вкладками, PDF-отчёт с графиками, файл result.json со всеми числами и запись в журнале запусков. Всё работает на одном компьютере с одной видеокартой, данные никуда не уходят.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Наша модель AMLAI 1.0 смотрит на каждый отрезок четырьмя способами. Лицо: 30 кадров, MediaPipe находит и вырезает лицо, CLIP ViT-B/32 превращает его в числа. Голос: звук отрезка целиком через CLAP. Речь: текст от Whisper; модель обучена на английском, поэтому русская речь переводится на английский (Marian opus-mt), текст читает EmoRoBERTa. Поведение: локальная языковая модель Qwen2.5-VL (через Ollama) смотрит на 16 кадров и пишет, что делает человек; это описание тоже читает EmoRoBERTa. Синие блоки — готовые открытые модели, мы их не меняли. Оранжевый блок — наша обученная часть: признаки сжимаются по времени (среднее и разброс), графовое внимание связывает модальности между собой, перекрёстное внимание и банк прототипов дают итог. Обучено на 6000 роликах First Impressions V2; работают пять обученных копий, их оценки усредняются. На выходе шесть чисел от 0 до 1: пять черт и «пригласил бы на собеседование». Точность на тестовых роликах First Impressions V2: средняя ошибка 0,08 по шкале 0…1 (mACC 0,920, CCC 0,715). Объяснения есть только у AMLAI 1.0: вклад каждой модальности, ключевые кадры с короткой подписью и знаком влияния, слова, на которые откликнулась модель. Вторая модель на выбор — OCEAN-AI с весами MuPTA (обучена на русской речи): аудио, видео и текст со своим слиянием, объяснений не даёт.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Как обучали нашу модель AMLAI 1.0. Данные — First Impressions V2: 10 000 англоязычных роликов по 15 секунд, каждый заранее оценён наблюдателями по пяти чертам. Набор заранее разбит составителями на три части: 6000 роликов на обучение, 2000 на проверку, 1997 на тест (3 ролика выпали). Кодировщики лица, голоса и текста брали готовыми и не дообучали — обучали только слияние. Рецепт (из статьи MM-PSYCHE): агрегация по времени среднее‖разброс, скрытый размер 512, 8 голов внимания, dropout 0.15, функция потерь MAE, оптимизатор Adam с шагом 1e-4, батч 32, до 100 эпох с ранней остановкой на 15 эпохах без улучшения; итог — ансамбль из пяти запусков с разными случайными весами. Ход обучения: признаки посчитали один раз (~48 минут, модели не менялись); слияние учили на 6000 роликах; лучшую эпоху выбирали по проверочным 2000; делали пять запусков и усредняли; тест прогоняли один раз на 1997 роликах, которых модель не видела, и на тесте ничего не подбирали. Что поднимало согласованность с оценками людей (CCC): основа — лицо через CLIP; голос, текст и описание поведения вместе добавляли около 0.014; пять запусков — ещё около 0.010; самый большой шаг — усреднение с системой OCEAN-AI, +0.018 (проверено бутстрепом: ансамбль лучше OCEAN-AI во всех 5000 пересборках теста, прирост CCC 0.031, интервал 0.024–0.037). Итог на тесте: точность (1 − средняя ошибка) 0.920 и CCC 0.715; в статье MM-PSYCHE 0.918 и 0.740; ансамбль AMLAI 1.0 с OCEAN-AI — 0.927 и 0.733.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 верх настоящей страницы результата (снимок экрана). Слева — загрузка видео, выбор модели (AMLAI 1.0 стоит по умолчанию) и кнопки «Анализировать» и «Остановить обработку». Справа — характеристика личности: тип MBTI крупно, затем «Коротко» и «Основа описания» простыми словами. Ниже — ключевые факты: сначала значение, под ним подпись. Цвет значения говорит, где оно лежит: зелёный — около нейтрального, синий — ниже, оранжевый — выше; то же сказано словом в подписи. Кнопка «Экспорт в PDF» собирает печатный отчёт. Под этим блоком — восемь вкладок: Обзор, Тип MBTI, Таймлайн, Эмоции и голос, Речь, Мимика и кадры, Объяснения, Данные. Пример — ролик длиной 10 минут, разбитый на 31 отрезок, модель AMLAI 1.0.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Снимки вкладки «Таймлайн» того же десятиминутного ролика. Верхний график — оценки пяти черт Big Five и «пригласить на собеседование» по каждому 20-секундному отрезку: линии почти ровные, значит, впечатление устойчиво по всему ролику. Серая полоса — отрезок, выбранный для объяснений и ключевых кадров. Нижние графики — голос (возбуждение, уверенность, позитивность, шкала от 0 до 1) и речь (темп в словах в минуту столбиками и доля пауз линией). На той же вкладке есть ещё график эмоций по речи и по лицу. На странице все графики интерактивные: при наведении показываются время отрезка и значения.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Тип MBTI считается из оценок Big Five по формуле заказчика. Четыре шкалы MBTI берутся из четырёх черт: экстраверсия даёт E или I, открытость опыту — N или S, доброжелательность — F или T, добросовестность — J или P. Порог 0,5: выше — правый полюс, ниже — левый. Если оценка ближе 0,15 к порогу, то есть в зоне 0,35–0,65, полюс не определён и в типе ставится «X». Уверенность буквы растёт с расстоянием от порога. Связь шкал (r) взята из исследований соответствия Big Five и MBTI: для E/I и S/N она высокая, для T/F и J/P средняя, поэтому последние две буквы надо читать осторожнее. Эмоциональная стабильность в MBTI не входит — о ней говорит характеристика личности. Тип считается и для каждого отрезка, поэтому видно, насколько он устойчив по ходу ролика. Внизу — что получает пользователь: веб-страница с восемью вкладками, PDF-отчёт с графиками, файл result.json со всеми числами и запись в журнале: кто и когда запускал анализ и какой получился результат.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Слева — вкладка «Тип MBTI»: точка на каждой из четырёх осей показывает оценку, серая середина — пограничная зона. Здесь три оси из четырёх на границе, поэтому тип записан как IXXX. Нейротизм показан отдельной шкалой, потому что в MBTI его нет. Ниже — тип по каждому 20-секундному отрезку: видно, какие буквы устойчивы, а какие меняются по ходу ролика. Справа — вкладка «Объяснения»: какая доля оценки каждой черты пришлась на лицо, голос, речь и описание поведения. У этой записи модель опирается в основном на лицо и голос. На той же вкладке — слова, на которые откликнулась модель, и описание поведения по отрезкам. Объяснения есть только у AMLAI 1.0; у OCEAN-AI на их месте короткая пометка.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Слева — стек сверху вниз. Интерфейс: веб-страница на Gradio 5.8, интерактивные графики Plotly, PDF-отчёт через fpdf2 с графиками matplotlib; для публикации в интернете — Caddy с HTTPS и паролем. Интерпретация: тип MBTI по формуле заказчика, характеристика личности по шаблонам и русскому словарю, ключевые факты с цветом и оговорки. Модели: наша AMLAI 1.0 и OCEAN-AI с весами MuPTA для оценки личности; CLIP, CLAP и EmoRoBERTa — кодировщики лица, голоса и текста; wav2vec2 от audeering — возбуждение, уверенность и позитивность голоса; ViT — выражение лица; Whisper large-v3-turbo — речь в текст; Qwen2.5-VL через Ollama — описание поведения по кадрам; Marian — перевод. Медиа: ffmpeg и ffprobe режут и читают видео, OpenCV и MediaPipe находят лицо. Платформа: Python 3.12, PyTorch с CUDA 13, WSL2 с Ubuntu 24.04, одна видеокарта RTX 5090 на 24 ГБ. Справа — подходы: несколько модальностей в одной модели; анализ по отрезкам с линией времени; ансамбль из пяти копий; объяснения каждой оценки; тексты по шаблонам, поэтому одинаковые числа всегда дают одинаковую характеристику; всё локально — сервер отдаёт только то, что показано на странице, и не даёт скачать чужие файлы.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Главное для развития — не код, а свой размеченный датасет на русском языке. Сейчас модели обучены на чужих данных: AMLAI 1.0 — на англоязычных 15-секундных роликах, OCEAN-AI — на корпусе MuPTA. Проверить точность на наших русскоязычных роликах сейчас не на чем. Что нужно: снять минимум 300–400 роликов, а лучше больше. Каждый до 10 минут, человек говорит в камеру, русская речь, лицо крупно, есть письменное согласие на обработку и хранение видео. У каждого ролика две разметки. Первая — самооценка: человек сам заполняет стандартный опросник личности по инструкции (например, BFI-2, 60 вопросов). Вторая — оценки наблюдателей: люди, которые не знают этого человека, смотрят ролики попарно и по каждой черте выбирают, кто из двоих кажется, например, общительнее; из множества таких сравнений получается оценка от 0 до 1. Так размечен First Impressions V2, на котором обучена наша модель: 10 000 роликов по 15 секунд, наблюдатели на Amazon Mechanical Turk сравнивали пары роликов по пяти чертам и по вопросу «пригласил бы на собеседование». Ориентиры по объёму: около 30 роликов — сравнить системы, около 100 — откалибровать шкалу, от 300 — дообучить модель. Что это даст: измеренную точность на русской речи, шкалу, согласованную с оценками людей, и модель, дообученную на своих данных.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Что разрешают авторы моделей и данных (не юридическая консультация; при коммерческом использовании условия проверяются у правообладателей). Код OCEAN-AI — под лицензией BSD-3-Clause: можно использовать, изменять и распространять, в том числе в коммерческом продукте, сохраняя копирайт и текст лицензии. Данные First Impressions V2, на которых обучена наша модель AMLAI 1.0, — под CC BY-NC 4.0: можно использовать, изменять и делиться с указанием авторства, но только некоммерчески. Русский корпус MuPTA, на котором обучены веса OCEAN-AI для русской речи, выдаётся авторами по запросу только для исследований — некоммерческое научное использование. Готовые кодировщики признаков свободные: CLIP и Whisper — MIT; CLAP, Qwen2.5-VL, ViT-выражения и MediaPipe — Apache-2.0 (в том числе коммерчески); при этом модель голоса wav2vec2 (audeering) — CC BY-NC-SA 4.0 и openSMILE — некоммерческие, EmoRoBERTa — без явной лицензии, перевод opus-mt — CC BY 4.0. Итог: сам код свободный, но оценки Big Five получены весами, обученными на некоммерческих данных, и часть моделей тоже некоммерческие, поэтому продавать продукт на этих весах нельзя; для коммерческого использования нужен собственный размеченный датасет, обучение на котором снимает эти ограничения.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image" Target="../media/image-1-13.png"/><Relationship Id="rId14" Type="http://schemas.openxmlformats.org/officeDocument/2006/relationships/image" Target="../media/image-1-14.png"/><Relationship Id="rId15" Type="http://schemas.openxmlformats.org/officeDocument/2006/relationships/image" Target="../media/image-1-15.png"/><Relationship Id="rId16" Type="http://schemas.openxmlformats.org/officeDocument/2006/relationships/image" Target="../media/image-1-16.pn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image" Target="../media/image-9-12.png"/><Relationship Id="rId13" Type="http://schemas.openxmlformats.org/officeDocument/2006/relationships/image" Target="../media/image-9-13.png"/><Relationship Id="rId14" Type="http://schemas.openxmlformats.org/officeDocument/2006/relationships/image" Target="../media/image-9-1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C2410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BS PROFILER 3.1 · ОПИСАНИЕ ПРОДУКТА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27720"/>
            <a:ext cx="10883392" cy="492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680"/>
              </a:lnSpc>
              <a:buNone/>
            </a:pPr>
            <a:r>
              <a:rPr lang="en-US" sz="3200" b="1" dirty="0">
                <a:solidFill>
                  <a:srgbClr val="16202E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Как работает система: от ролика до отчёта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12800" y="1696641"/>
            <a:ext cx="10883392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Один проход по ролику: все измерения на общей оси времени, всё считается локально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19150" y="2053498"/>
            <a:ext cx="1447800" cy="3670300"/>
          </a:xfrm>
          <a:prstGeom prst="roundRect">
            <a:avLst>
              <a:gd name="adj" fmla="val 8333"/>
            </a:avLst>
          </a:prstGeom>
          <a:solidFill>
            <a:srgbClr val="FDFCF9"/>
          </a:solidFill>
          <a:ln w="12700">
            <a:solidFill>
              <a:srgbClr val="D6DAE0"/>
            </a:solidFill>
            <a:prstDash val="solid"/>
          </a:ln>
        </p:spPr>
      </p:sp>
      <p:pic>
        <p:nvPicPr>
          <p:cNvPr id="6" name="Image 0" descr="Play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52500" y="2212248"/>
            <a:ext cx="228600" cy="2286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57300" y="2219854"/>
            <a:ext cx="61145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16202E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Видео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952500" y="2529748"/>
            <a:ext cx="1231900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человек говорит в камеру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952500" y="3258608"/>
            <a:ext cx="123190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русская речь, любая длина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952500" y="3774149"/>
            <a:ext cx="123190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загрузка на веб-странице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730500" y="2053498"/>
            <a:ext cx="1701800" cy="3670300"/>
          </a:xfrm>
          <a:prstGeom prst="roundRect">
            <a:avLst>
              <a:gd name="adj" fmla="val 7090"/>
            </a:avLst>
          </a:prstGeom>
          <a:solidFill>
            <a:srgbClr val="ECEEF1"/>
          </a:solidFill>
          <a:ln w="12700">
            <a:solidFill>
              <a:srgbClr val="C9CFD6"/>
            </a:solidFill>
            <a:prstDash val="solid"/>
          </a:ln>
        </p:spPr>
      </p:sp>
      <p:pic>
        <p:nvPicPr>
          <p:cNvPr id="12" name="Image 1" descr="Settings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863850" y="2212248"/>
            <a:ext cx="228600" cy="2286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168650" y="2219854"/>
            <a:ext cx="110456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16202E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Подготовка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2863850" y="2529748"/>
            <a:ext cx="1485900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длинный ролик режется на отрезки по 20 секунд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2863850" y="3258608"/>
            <a:ext cx="1485900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Whisper распознаёт речь с метками времени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4895850" y="2053498"/>
            <a:ext cx="2146300" cy="1701800"/>
          </a:xfrm>
          <a:prstGeom prst="roundRect">
            <a:avLst>
              <a:gd name="adj" fmla="val 7090"/>
            </a:avLst>
          </a:prstGeom>
          <a:solidFill>
            <a:srgbClr val="FBE3D4"/>
          </a:solidFill>
          <a:ln w="12700">
            <a:solidFill>
              <a:srgbClr val="C2410C"/>
            </a:solidFill>
            <a:prstDash val="solid"/>
          </a:ln>
        </p:spPr>
      </p:sp>
      <p:pic>
        <p:nvPicPr>
          <p:cNvPr id="17" name="Image 2" descr="Users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041900" y="2212248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5346700" y="2219854"/>
            <a:ext cx="7348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16202E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Big Five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5041900" y="2517048"/>
            <a:ext cx="1909826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F4A5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пять черт на каждом отрезке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5041900" y="3019888"/>
            <a:ext cx="1909826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F4A5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модель на выбор: AMLAI 1.0 или OCEAN-AI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4895850" y="4021998"/>
            <a:ext cx="2146300" cy="1701800"/>
          </a:xfrm>
          <a:prstGeom prst="roundRect">
            <a:avLst>
              <a:gd name="adj" fmla="val 7090"/>
            </a:avLst>
          </a:prstGeom>
          <a:solidFill>
            <a:srgbClr val="DDE6FA"/>
          </a:solidFill>
          <a:ln w="12700">
            <a:solidFill>
              <a:srgbClr val="1D4ED8"/>
            </a:solidFill>
            <a:prstDash val="solid"/>
          </a:ln>
        </p:spPr>
      </p:sp>
      <p:pic>
        <p:nvPicPr>
          <p:cNvPr id="22" name="Image 3" descr="Activity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041900" y="4180748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5346700" y="4188354"/>
            <a:ext cx="104457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16202E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Поведение</a:t>
            </a:r>
            <a:endParaRPr lang="en-US" sz="1400" dirty="0"/>
          </a:p>
        </p:txBody>
      </p:sp>
      <p:sp>
        <p:nvSpPr>
          <p:cNvPr id="24" name="Text 18"/>
          <p:cNvSpPr/>
          <p:nvPr/>
        </p:nvSpPr>
        <p:spPr>
          <a:xfrm>
            <a:off x="5041900" y="4485548"/>
            <a:ext cx="1909826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F4A5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эмоции по смыслу речи, выражение лица, голос, темп и паузы</a:t>
            </a:r>
            <a:endParaRPr lang="en-US" sz="1200" dirty="0"/>
          </a:p>
        </p:txBody>
      </p:sp>
      <p:sp>
        <p:nvSpPr>
          <p:cNvPr id="25" name="Shape 19"/>
          <p:cNvSpPr/>
          <p:nvPr/>
        </p:nvSpPr>
        <p:spPr>
          <a:xfrm>
            <a:off x="7505700" y="2053498"/>
            <a:ext cx="1701800" cy="3670300"/>
          </a:xfrm>
          <a:prstGeom prst="roundRect">
            <a:avLst>
              <a:gd name="adj" fmla="val 7090"/>
            </a:avLst>
          </a:prstGeom>
          <a:solidFill>
            <a:srgbClr val="FDFCF9"/>
          </a:solidFill>
          <a:ln w="12700">
            <a:solidFill>
              <a:srgbClr val="D6DAE0"/>
            </a:solidFill>
            <a:prstDash val="solid"/>
          </a:ln>
        </p:spPr>
      </p:sp>
      <p:pic>
        <p:nvPicPr>
          <p:cNvPr id="26" name="Image 4" descr="Chart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7639050" y="2212248"/>
            <a:ext cx="228600" cy="22860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7943850" y="2219854"/>
            <a:ext cx="92987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16202E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Сведение</a:t>
            </a:r>
            <a:endParaRPr lang="en-US" sz="1400" dirty="0"/>
          </a:p>
        </p:txBody>
      </p:sp>
      <p:sp>
        <p:nvSpPr>
          <p:cNvPr id="28" name="Text 21"/>
          <p:cNvSpPr/>
          <p:nvPr/>
        </p:nvSpPr>
        <p:spPr>
          <a:xfrm>
            <a:off x="7639050" y="2529748"/>
            <a:ext cx="1485900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среднее по ролику с учётом длины отрезков</a:t>
            </a:r>
            <a:endParaRPr lang="en-US" sz="1200" dirty="0"/>
          </a:p>
        </p:txBody>
      </p:sp>
      <p:sp>
        <p:nvSpPr>
          <p:cNvPr id="29" name="Text 22"/>
          <p:cNvSpPr/>
          <p:nvPr/>
        </p:nvSpPr>
        <p:spPr>
          <a:xfrm>
            <a:off x="7639050" y="3258608"/>
            <a:ext cx="148590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разброс и линия времени</a:t>
            </a:r>
            <a:endParaRPr lang="en-US" sz="1200" dirty="0"/>
          </a:p>
        </p:txBody>
      </p:sp>
      <p:sp>
        <p:nvSpPr>
          <p:cNvPr id="30" name="Text 23"/>
          <p:cNvSpPr/>
          <p:nvPr/>
        </p:nvSpPr>
        <p:spPr>
          <a:xfrm>
            <a:off x="7639050" y="3774149"/>
            <a:ext cx="14859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тип MBTI</a:t>
            </a:r>
            <a:endParaRPr lang="en-US" sz="1200" dirty="0"/>
          </a:p>
        </p:txBody>
      </p:sp>
      <p:sp>
        <p:nvSpPr>
          <p:cNvPr id="31" name="Text 24"/>
          <p:cNvSpPr/>
          <p:nvPr/>
        </p:nvSpPr>
        <p:spPr>
          <a:xfrm>
            <a:off x="7639050" y="4076369"/>
            <a:ext cx="1485900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характеристика личности простыми словами</a:t>
            </a:r>
            <a:endParaRPr lang="en-US" sz="1200" dirty="0"/>
          </a:p>
        </p:txBody>
      </p:sp>
      <p:sp>
        <p:nvSpPr>
          <p:cNvPr id="32" name="Shape 25"/>
          <p:cNvSpPr/>
          <p:nvPr/>
        </p:nvSpPr>
        <p:spPr>
          <a:xfrm>
            <a:off x="9671050" y="2053498"/>
            <a:ext cx="1701800" cy="3670300"/>
          </a:xfrm>
          <a:prstGeom prst="roundRect">
            <a:avLst>
              <a:gd name="adj" fmla="val 7090"/>
            </a:avLst>
          </a:prstGeom>
          <a:solidFill>
            <a:srgbClr val="16202E"/>
          </a:solidFill>
          <a:ln w="12700">
            <a:solidFill>
              <a:srgbClr val="16202E"/>
            </a:solidFill>
            <a:prstDash val="solid"/>
          </a:ln>
        </p:spPr>
      </p:sp>
      <p:pic>
        <p:nvPicPr>
          <p:cNvPr id="33" name="Image 5" descr="CheckCircle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9804400" y="2212248"/>
            <a:ext cx="228600" cy="228600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10109200" y="2219854"/>
            <a:ext cx="96844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F2F0EA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Результат</a:t>
            </a:r>
            <a:endParaRPr lang="en-US" sz="1400" dirty="0"/>
          </a:p>
        </p:txBody>
      </p:sp>
      <p:sp>
        <p:nvSpPr>
          <p:cNvPr id="35" name="Text 27"/>
          <p:cNvSpPr/>
          <p:nvPr/>
        </p:nvSpPr>
        <p:spPr>
          <a:xfrm>
            <a:off x="9804400" y="2529748"/>
            <a:ext cx="148590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C9D1D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веб-страница с 8 вкладками</a:t>
            </a:r>
            <a:endParaRPr lang="en-US" sz="1200" dirty="0"/>
          </a:p>
        </p:txBody>
      </p:sp>
      <p:sp>
        <p:nvSpPr>
          <p:cNvPr id="36" name="Text 28"/>
          <p:cNvSpPr/>
          <p:nvPr/>
        </p:nvSpPr>
        <p:spPr>
          <a:xfrm>
            <a:off x="9804400" y="3045288"/>
            <a:ext cx="148590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C9D1D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PDF-отчёт с графиками</a:t>
            </a:r>
            <a:endParaRPr lang="en-US" sz="1200" dirty="0"/>
          </a:p>
        </p:txBody>
      </p:sp>
      <p:sp>
        <p:nvSpPr>
          <p:cNvPr id="37" name="Text 29"/>
          <p:cNvSpPr/>
          <p:nvPr/>
        </p:nvSpPr>
        <p:spPr>
          <a:xfrm>
            <a:off x="9804400" y="3560829"/>
            <a:ext cx="148590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C9D1D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result.json для других программ</a:t>
            </a:r>
            <a:endParaRPr lang="en-US" sz="1200" dirty="0"/>
          </a:p>
        </p:txBody>
      </p:sp>
      <p:sp>
        <p:nvSpPr>
          <p:cNvPr id="38" name="Text 30"/>
          <p:cNvSpPr/>
          <p:nvPr/>
        </p:nvSpPr>
        <p:spPr>
          <a:xfrm>
            <a:off x="9804400" y="4076369"/>
            <a:ext cx="14859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C9D1D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журнал запусков</a:t>
            </a:r>
            <a:endParaRPr lang="en-US" sz="1200" dirty="0"/>
          </a:p>
        </p:txBody>
      </p:sp>
      <p:pic>
        <p:nvPicPr>
          <p:cNvPr id="39" name="Image 6" descr="connector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2222500" y="3837848"/>
            <a:ext cx="552450" cy="101600"/>
          </a:xfrm>
          <a:prstGeom prst="rect">
            <a:avLst/>
          </a:prstGeom>
        </p:spPr>
      </p:pic>
      <p:pic>
        <p:nvPicPr>
          <p:cNvPr id="40" name="Image 7" descr="connector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4387850" y="3837848"/>
            <a:ext cx="323850" cy="101600"/>
          </a:xfrm>
          <a:prstGeom prst="rect">
            <a:avLst/>
          </a:prstGeom>
        </p:spPr>
      </p:pic>
      <p:pic>
        <p:nvPicPr>
          <p:cNvPr id="41" name="Image 8" descr="connector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4610100" y="2853598"/>
            <a:ext cx="101600" cy="2070100"/>
          </a:xfrm>
          <a:prstGeom prst="rect">
            <a:avLst/>
          </a:prstGeom>
        </p:spPr>
      </p:pic>
      <p:pic>
        <p:nvPicPr>
          <p:cNvPr id="42" name="Image 9" descr="connector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4610100" y="2853598"/>
            <a:ext cx="330200" cy="101600"/>
          </a:xfrm>
          <a:prstGeom prst="rect">
            <a:avLst/>
          </a:prstGeom>
        </p:spPr>
      </p:pic>
      <p:pic>
        <p:nvPicPr>
          <p:cNvPr id="43" name="Image 10" descr="connector">    </p:cNvPr>
          <p:cNvPicPr>
            <a:picLocks noChangeAspect="1"/>
          </p:cNvPicPr>
          <p:nvPr/>
        </p:nvPicPr>
        <p:blipFill>
          <a:blip r:embed="rId11"/>
          <a:srcRect l="0" r="0" t="0" b="0"/>
          <a:stretch/>
        </p:blipFill>
        <p:spPr>
          <a:xfrm>
            <a:off x="4610100" y="4822098"/>
            <a:ext cx="330200" cy="101600"/>
          </a:xfrm>
          <a:prstGeom prst="rect">
            <a:avLst/>
          </a:prstGeom>
        </p:spPr>
      </p:pic>
      <p:pic>
        <p:nvPicPr>
          <p:cNvPr id="44" name="Image 11" descr="connector">    </p:cNvPr>
          <p:cNvPicPr>
            <a:picLocks noChangeAspect="1"/>
          </p:cNvPicPr>
          <p:nvPr/>
        </p:nvPicPr>
        <p:blipFill>
          <a:blip r:embed="rId12"/>
          <a:srcRect l="0" r="0" t="0" b="0"/>
          <a:stretch/>
        </p:blipFill>
        <p:spPr>
          <a:xfrm>
            <a:off x="6997700" y="2853598"/>
            <a:ext cx="330200" cy="101600"/>
          </a:xfrm>
          <a:prstGeom prst="rect">
            <a:avLst/>
          </a:prstGeom>
        </p:spPr>
      </p:pic>
      <p:pic>
        <p:nvPicPr>
          <p:cNvPr id="45" name="Image 12" descr="connector">    </p:cNvPr>
          <p:cNvPicPr>
            <a:picLocks noChangeAspect="1"/>
          </p:cNvPicPr>
          <p:nvPr/>
        </p:nvPicPr>
        <p:blipFill>
          <a:blip r:embed="rId13"/>
          <a:srcRect l="0" r="0" t="0" b="0"/>
          <a:stretch/>
        </p:blipFill>
        <p:spPr>
          <a:xfrm>
            <a:off x="6997700" y="4822098"/>
            <a:ext cx="330200" cy="101600"/>
          </a:xfrm>
          <a:prstGeom prst="rect">
            <a:avLst/>
          </a:prstGeom>
        </p:spPr>
      </p:pic>
      <p:pic>
        <p:nvPicPr>
          <p:cNvPr id="46" name="Image 13" descr="connector">    </p:cNvPr>
          <p:cNvPicPr>
            <a:picLocks noChangeAspect="1"/>
          </p:cNvPicPr>
          <p:nvPr/>
        </p:nvPicPr>
        <p:blipFill>
          <a:blip r:embed="rId14"/>
          <a:srcRect l="0" r="0" t="0" b="0"/>
          <a:stretch/>
        </p:blipFill>
        <p:spPr>
          <a:xfrm>
            <a:off x="7226300" y="2853598"/>
            <a:ext cx="101600" cy="2070100"/>
          </a:xfrm>
          <a:prstGeom prst="rect">
            <a:avLst/>
          </a:prstGeom>
        </p:spPr>
      </p:pic>
      <p:pic>
        <p:nvPicPr>
          <p:cNvPr id="47" name="Image 14" descr="connector">    </p:cNvPr>
          <p:cNvPicPr>
            <a:picLocks noChangeAspect="1"/>
          </p:cNvPicPr>
          <p:nvPr/>
        </p:nvPicPr>
        <p:blipFill>
          <a:blip r:embed="rId15"/>
          <a:srcRect l="0" r="0" t="0" b="0"/>
          <a:stretch/>
        </p:blipFill>
        <p:spPr>
          <a:xfrm>
            <a:off x="7226300" y="3837848"/>
            <a:ext cx="323850" cy="101600"/>
          </a:xfrm>
          <a:prstGeom prst="rect">
            <a:avLst/>
          </a:prstGeom>
        </p:spPr>
      </p:pic>
      <p:pic>
        <p:nvPicPr>
          <p:cNvPr id="48" name="Image 15" descr="connector">    </p:cNvPr>
          <p:cNvPicPr>
            <a:picLocks noChangeAspect="1"/>
          </p:cNvPicPr>
          <p:nvPr/>
        </p:nvPicPr>
        <p:blipFill>
          <a:blip r:embed="rId16"/>
          <a:srcRect l="0" r="0" t="0" b="0"/>
          <a:stretch/>
        </p:blipFill>
        <p:spPr>
          <a:xfrm>
            <a:off x="9163050" y="3837848"/>
            <a:ext cx="552450" cy="101600"/>
          </a:xfrm>
          <a:prstGeom prst="rect">
            <a:avLst/>
          </a:prstGeom>
        </p:spPr>
      </p:pic>
      <p:sp>
        <p:nvSpPr>
          <p:cNvPr id="49" name="Text 31"/>
          <p:cNvSpPr/>
          <p:nvPr/>
        </p:nvSpPr>
        <p:spPr>
          <a:xfrm>
            <a:off x="812800" y="6238280"/>
            <a:ext cx="85026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BS Profiler 3.1 · анализ человека по видео · © 2026 AMLAI</a:t>
            </a:r>
            <a:endParaRPr lang="en-US" sz="1200" dirty="0"/>
          </a:p>
        </p:txBody>
      </p:sp>
      <p:sp>
        <p:nvSpPr>
          <p:cNvPr id="50" name="Text 32"/>
          <p:cNvSpPr/>
          <p:nvPr/>
        </p:nvSpPr>
        <p:spPr>
          <a:xfrm>
            <a:off x="10566400" y="6238280"/>
            <a:ext cx="812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EF1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C2410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КАК УСТРОЕНА МОДЕЛЬ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27720"/>
            <a:ext cx="10883392" cy="492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680"/>
              </a:lnSpc>
              <a:buNone/>
            </a:pPr>
            <a:r>
              <a:rPr lang="en-US" sz="3200" b="1" dirty="0">
                <a:solidFill>
                  <a:srgbClr val="16202E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AMLAI 1.0: четыре взгляда на человека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12800" y="1696641"/>
            <a:ext cx="10883392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На каждом отрезке четыре потока признаков сводятся в шесть оценок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19150" y="2053498"/>
            <a:ext cx="2781300" cy="673100"/>
          </a:xfrm>
          <a:prstGeom prst="roundRect">
            <a:avLst>
              <a:gd name="adj" fmla="val 14151"/>
            </a:avLst>
          </a:prstGeom>
          <a:solidFill>
            <a:srgbClr val="FBFBFA"/>
          </a:solidFill>
          <a:ln w="12700">
            <a:solidFill>
              <a:srgbClr val="C9CFD6"/>
            </a:solidFill>
            <a:prstDash val="solid"/>
          </a:ln>
        </p:spPr>
        <p:txBody>
          <a:bodyPr wrap="square" lIns="105452" tIns="80052" rIns="30014" bIns="80052" rtlCol="0" anchor="ctr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3F4A5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Лицо</a:t>
            </a:r>
            <a:r>
              <a:rPr lang="en-US" sz="1200" dirty="0">
                <a:solidFill>
                  <a:srgbClr val="3F4A5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· 30 кадров, MediaPipe вырезает лицо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19150" y="2967898"/>
            <a:ext cx="2781300" cy="673100"/>
          </a:xfrm>
          <a:prstGeom prst="roundRect">
            <a:avLst>
              <a:gd name="adj" fmla="val 14151"/>
            </a:avLst>
          </a:prstGeom>
          <a:solidFill>
            <a:srgbClr val="FBFBFA"/>
          </a:solidFill>
          <a:ln w="12700">
            <a:solidFill>
              <a:srgbClr val="C9CFD6"/>
            </a:solidFill>
            <a:prstDash val="solid"/>
          </a:ln>
        </p:spPr>
        <p:txBody>
          <a:bodyPr wrap="square" lIns="105452" tIns="80052" rIns="30014" bIns="80052" rtlCol="0" anchor="ctr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3F4A5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Голос</a:t>
            </a:r>
            <a:r>
              <a:rPr lang="en-US" sz="1200" dirty="0">
                <a:solidFill>
                  <a:srgbClr val="3F4A5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· звук отрезка целиком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19150" y="3882298"/>
            <a:ext cx="2781300" cy="673100"/>
          </a:xfrm>
          <a:prstGeom prst="roundRect">
            <a:avLst>
              <a:gd name="adj" fmla="val 14151"/>
            </a:avLst>
          </a:prstGeom>
          <a:solidFill>
            <a:srgbClr val="FBFBFA"/>
          </a:solidFill>
          <a:ln w="12700">
            <a:solidFill>
              <a:srgbClr val="C9CFD6"/>
            </a:solidFill>
            <a:prstDash val="solid"/>
          </a:ln>
        </p:spPr>
        <p:txBody>
          <a:bodyPr wrap="square" lIns="105452" tIns="80052" rIns="30014" bIns="80052" rtlCol="0" anchor="ctr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3F4A5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Речь</a:t>
            </a:r>
            <a:r>
              <a:rPr lang="en-US" sz="1200" dirty="0">
                <a:solidFill>
                  <a:srgbClr val="3F4A5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· текст Whisper в переводе на английский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19150" y="4796698"/>
            <a:ext cx="2781300" cy="673100"/>
          </a:xfrm>
          <a:prstGeom prst="roundRect">
            <a:avLst>
              <a:gd name="adj" fmla="val 14151"/>
            </a:avLst>
          </a:prstGeom>
          <a:solidFill>
            <a:srgbClr val="FBFBFA"/>
          </a:solidFill>
          <a:ln w="12700">
            <a:solidFill>
              <a:srgbClr val="C9CFD6"/>
            </a:solidFill>
            <a:prstDash val="solid"/>
          </a:ln>
        </p:spPr>
        <p:txBody>
          <a:bodyPr wrap="square" lIns="105452" tIns="80052" rIns="30014" bIns="80052" rtlCol="0" anchor="ctr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3F4A5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Поведение</a:t>
            </a:r>
            <a:r>
              <a:rPr lang="en-US" sz="1200" dirty="0">
                <a:solidFill>
                  <a:srgbClr val="3F4A5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· Qwen2.5-VL описывает кадры словами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127500" y="2053498"/>
            <a:ext cx="1638300" cy="673100"/>
          </a:xfrm>
          <a:prstGeom prst="roundRect">
            <a:avLst>
              <a:gd name="adj" fmla="val 14151"/>
            </a:avLst>
          </a:prstGeom>
          <a:solidFill>
            <a:srgbClr val="DDE6FA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35450" y="2170378"/>
            <a:ext cx="14732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16202E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CLIP ViT-B/32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235450" y="2396398"/>
            <a:ext cx="14732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F4A5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облик лица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127500" y="2967898"/>
            <a:ext cx="1638300" cy="673100"/>
          </a:xfrm>
          <a:prstGeom prst="roundRect">
            <a:avLst>
              <a:gd name="adj" fmla="val 14151"/>
            </a:avLst>
          </a:prstGeom>
          <a:solidFill>
            <a:srgbClr val="DDE6FA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35450" y="3084778"/>
            <a:ext cx="14732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16202E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CLAP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235450" y="3310798"/>
            <a:ext cx="14732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F4A5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звучание голоса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27500" y="3882298"/>
            <a:ext cx="1638300" cy="673100"/>
          </a:xfrm>
          <a:prstGeom prst="roundRect">
            <a:avLst>
              <a:gd name="adj" fmla="val 14151"/>
            </a:avLst>
          </a:prstGeom>
          <a:solidFill>
            <a:srgbClr val="DDE6FA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235450" y="3999178"/>
            <a:ext cx="14732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16202E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EmoRoBERTa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235450" y="4225198"/>
            <a:ext cx="14732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F4A5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смысл текста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27500" y="4796698"/>
            <a:ext cx="1638300" cy="673100"/>
          </a:xfrm>
          <a:prstGeom prst="roundRect">
            <a:avLst>
              <a:gd name="adj" fmla="val 14151"/>
            </a:avLst>
          </a:prstGeom>
          <a:solidFill>
            <a:srgbClr val="DDE6FA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235450" y="4913578"/>
            <a:ext cx="14732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16202E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EmoRoBERTa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235450" y="5139598"/>
            <a:ext cx="14732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F4A5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смысл описания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92850" y="2053498"/>
            <a:ext cx="2273300" cy="3416300"/>
          </a:xfrm>
          <a:prstGeom prst="roundRect">
            <a:avLst>
              <a:gd name="adj" fmla="val 5307"/>
            </a:avLst>
          </a:prstGeom>
          <a:solidFill>
            <a:srgbClr val="FBE3D4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38900" y="2668323"/>
            <a:ext cx="204063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16202E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Графовое слияние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438900" y="2970543"/>
            <a:ext cx="2040636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F4A5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признаки сжимаются по времени: среднее и разброс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38900" y="3699404"/>
            <a:ext cx="2040636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F4A5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графовое внимание: каждая модальность учитывает остальные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438900" y="4428265"/>
            <a:ext cx="2040636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F4A5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перекрёстное внимание и банк прототипов пяти черт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9099550" y="2053498"/>
            <a:ext cx="2273300" cy="1600200"/>
          </a:xfrm>
          <a:prstGeom prst="roundRect">
            <a:avLst>
              <a:gd name="adj" fmla="val 7540"/>
            </a:avLst>
          </a:prstGeom>
          <a:solidFill>
            <a:srgbClr val="16202E"/>
          </a:solidFill>
          <a:ln w="12700">
            <a:solidFill>
              <a:srgbClr val="16202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245600" y="2244064"/>
            <a:ext cx="204063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F2F0EA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Шесть оценок 0…1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9245600" y="2533584"/>
            <a:ext cx="2040636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C9D1D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пять черт Big Five и «собеседование»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245600" y="3036425"/>
            <a:ext cx="2040636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C9D1D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среднее пяти обученных копий модели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9099550" y="3869598"/>
            <a:ext cx="2273300" cy="1600200"/>
          </a:xfrm>
          <a:prstGeom prst="roundRect">
            <a:avLst>
              <a:gd name="adj" fmla="val 7540"/>
            </a:avLst>
          </a:prstGeom>
          <a:solidFill>
            <a:srgbClr val="FBFBFA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245600" y="4204957"/>
            <a:ext cx="204063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16202E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Объяснения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9245600" y="4494478"/>
            <a:ext cx="2040636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F4A5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вклад модальностей, ключевые кадры с подписью, важные слова</a:t>
            </a:r>
            <a:endParaRPr lang="en-US" sz="1200" dirty="0"/>
          </a:p>
        </p:txBody>
      </p:sp>
      <p:pic>
        <p:nvPicPr>
          <p:cNvPr id="33" name="Image 0" descr="connector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556000" y="2339248"/>
            <a:ext cx="615950" cy="101600"/>
          </a:xfrm>
          <a:prstGeom prst="rect">
            <a:avLst/>
          </a:prstGeom>
        </p:spPr>
      </p:pic>
      <p:pic>
        <p:nvPicPr>
          <p:cNvPr id="34" name="Image 1" descr="connector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556000" y="3253648"/>
            <a:ext cx="615950" cy="101600"/>
          </a:xfrm>
          <a:prstGeom prst="rect">
            <a:avLst/>
          </a:prstGeom>
        </p:spPr>
      </p:pic>
      <p:pic>
        <p:nvPicPr>
          <p:cNvPr id="35" name="Image 2" descr="connector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556000" y="4168048"/>
            <a:ext cx="615950" cy="101600"/>
          </a:xfrm>
          <a:prstGeom prst="rect">
            <a:avLst/>
          </a:prstGeom>
        </p:spPr>
      </p:pic>
      <p:pic>
        <p:nvPicPr>
          <p:cNvPr id="36" name="Image 3" descr="connector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3556000" y="5082448"/>
            <a:ext cx="615950" cy="101600"/>
          </a:xfrm>
          <a:prstGeom prst="rect">
            <a:avLst/>
          </a:prstGeom>
        </p:spPr>
      </p:pic>
      <p:pic>
        <p:nvPicPr>
          <p:cNvPr id="37" name="Image 4" descr="connector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5721350" y="2339248"/>
            <a:ext cx="615950" cy="101600"/>
          </a:xfrm>
          <a:prstGeom prst="rect">
            <a:avLst/>
          </a:prstGeom>
        </p:spPr>
      </p:pic>
      <p:pic>
        <p:nvPicPr>
          <p:cNvPr id="38" name="Image 5" descr="connector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5721350" y="3253648"/>
            <a:ext cx="615950" cy="101600"/>
          </a:xfrm>
          <a:prstGeom prst="rect">
            <a:avLst/>
          </a:prstGeom>
        </p:spPr>
      </p:pic>
      <p:pic>
        <p:nvPicPr>
          <p:cNvPr id="39" name="Image 6" descr="connector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5721350" y="4168048"/>
            <a:ext cx="615950" cy="101600"/>
          </a:xfrm>
          <a:prstGeom prst="rect">
            <a:avLst/>
          </a:prstGeom>
        </p:spPr>
      </p:pic>
      <p:pic>
        <p:nvPicPr>
          <p:cNvPr id="40" name="Image 7" descr="connector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5721350" y="5082448"/>
            <a:ext cx="615950" cy="101600"/>
          </a:xfrm>
          <a:prstGeom prst="rect">
            <a:avLst/>
          </a:prstGeom>
        </p:spPr>
      </p:pic>
      <p:pic>
        <p:nvPicPr>
          <p:cNvPr id="41" name="Image 8" descr="connector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8521700" y="2802798"/>
            <a:ext cx="622300" cy="101600"/>
          </a:xfrm>
          <a:prstGeom prst="rect">
            <a:avLst/>
          </a:prstGeom>
        </p:spPr>
      </p:pic>
      <p:pic>
        <p:nvPicPr>
          <p:cNvPr id="42" name="Image 9" descr="connector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8521700" y="4618898"/>
            <a:ext cx="622300" cy="101600"/>
          </a:xfrm>
          <a:prstGeom prst="rect">
            <a:avLst/>
          </a:prstGeom>
        </p:spPr>
      </p:pic>
      <p:sp>
        <p:nvSpPr>
          <p:cNvPr id="43" name="Shape 31"/>
          <p:cNvSpPr/>
          <p:nvPr/>
        </p:nvSpPr>
        <p:spPr>
          <a:xfrm>
            <a:off x="819150" y="5601825"/>
            <a:ext cx="165100" cy="165100"/>
          </a:xfrm>
          <a:prstGeom prst="roundRect">
            <a:avLst>
              <a:gd name="adj" fmla="val 19231"/>
            </a:avLst>
          </a:prstGeom>
          <a:solidFill>
            <a:srgbClr val="FBFBFA"/>
          </a:solidFill>
          <a:ln w="12700">
            <a:solidFill>
              <a:srgbClr val="C9CFD6"/>
            </a:solidFill>
            <a:prstDash val="solid"/>
          </a:ln>
        </p:spPr>
      </p:sp>
      <p:sp>
        <p:nvSpPr>
          <p:cNvPr id="44" name="Text 32"/>
          <p:cNvSpPr/>
          <p:nvPr/>
        </p:nvSpPr>
        <p:spPr>
          <a:xfrm>
            <a:off x="1066800" y="5577748"/>
            <a:ext cx="119975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данные отрезка</a:t>
            </a:r>
            <a:endParaRPr lang="en-US" sz="1200" dirty="0"/>
          </a:p>
        </p:txBody>
      </p:sp>
      <p:sp>
        <p:nvSpPr>
          <p:cNvPr id="45" name="Shape 33"/>
          <p:cNvSpPr/>
          <p:nvPr/>
        </p:nvSpPr>
        <p:spPr>
          <a:xfrm>
            <a:off x="2425303" y="5601825"/>
            <a:ext cx="165100" cy="165100"/>
          </a:xfrm>
          <a:prstGeom prst="roundRect">
            <a:avLst>
              <a:gd name="adj" fmla="val 19231"/>
            </a:avLst>
          </a:prstGeom>
          <a:solidFill>
            <a:srgbClr val="DDE6FA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46" name="Text 34"/>
          <p:cNvSpPr/>
          <p:nvPr/>
        </p:nvSpPr>
        <p:spPr>
          <a:xfrm>
            <a:off x="2672953" y="5577748"/>
            <a:ext cx="195526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готовые открытые модели</a:t>
            </a:r>
            <a:endParaRPr lang="en-US" sz="1200" dirty="0"/>
          </a:p>
        </p:txBody>
      </p:sp>
      <p:sp>
        <p:nvSpPr>
          <p:cNvPr id="47" name="Shape 35"/>
          <p:cNvSpPr/>
          <p:nvPr/>
        </p:nvSpPr>
        <p:spPr>
          <a:xfrm>
            <a:off x="4780823" y="5601825"/>
            <a:ext cx="165100" cy="165100"/>
          </a:xfrm>
          <a:prstGeom prst="roundRect">
            <a:avLst>
              <a:gd name="adj" fmla="val 19231"/>
            </a:avLst>
          </a:prstGeom>
          <a:solidFill>
            <a:srgbClr val="FBE3D4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48" name="Text 36"/>
          <p:cNvSpPr/>
          <p:nvPr/>
        </p:nvSpPr>
        <p:spPr>
          <a:xfrm>
            <a:off x="5028473" y="5577748"/>
            <a:ext cx="27280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обучено нами на First Impressions V2</a:t>
            </a:r>
            <a:endParaRPr lang="en-US" sz="1200" dirty="0"/>
          </a:p>
        </p:txBody>
      </p:sp>
      <p:sp>
        <p:nvSpPr>
          <p:cNvPr id="49" name="Text 37"/>
          <p:cNvSpPr/>
          <p:nvPr/>
        </p:nvSpPr>
        <p:spPr>
          <a:xfrm>
            <a:off x="812800" y="6238280"/>
            <a:ext cx="85026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BS Profiler 3.1 · анализ человека по видео · © 2026 AMLAI</a:t>
            </a:r>
            <a:endParaRPr lang="en-US" sz="1200" dirty="0"/>
          </a:p>
        </p:txBody>
      </p:sp>
      <p:sp>
        <p:nvSpPr>
          <p:cNvPr id="50" name="Text 38"/>
          <p:cNvSpPr/>
          <p:nvPr/>
        </p:nvSpPr>
        <p:spPr>
          <a:xfrm>
            <a:off x="10566400" y="6238280"/>
            <a:ext cx="812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1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23"/>
              </a:lnSpc>
              <a:buNone/>
            </a:pPr>
            <a:r>
              <a:rPr lang="en-US" sz="1088" b="1" spc="100" kern="0" dirty="0">
                <a:solidFill>
                  <a:srgbClr val="C2410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КАК ОБУЧАЛАСЬ МОДЕЛЬ</a:t>
            </a:r>
            <a:endParaRPr lang="en-US" sz="1088" dirty="0"/>
          </a:p>
        </p:txBody>
      </p:sp>
      <p:sp>
        <p:nvSpPr>
          <p:cNvPr id="3" name="Text 1"/>
          <p:cNvSpPr/>
          <p:nvPr/>
        </p:nvSpPr>
        <p:spPr>
          <a:xfrm>
            <a:off x="812800" y="1115749"/>
            <a:ext cx="10883392" cy="3959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18"/>
              </a:lnSpc>
              <a:buNone/>
            </a:pPr>
            <a:r>
              <a:rPr lang="en-US" sz="2653" b="1" dirty="0">
                <a:solidFill>
                  <a:srgbClr val="16202E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Обучение AMLAI 1.0 на First Impressions V2</a:t>
            </a:r>
            <a:endParaRPr lang="en-US" sz="2653" dirty="0"/>
          </a:p>
        </p:txBody>
      </p:sp>
      <p:sp>
        <p:nvSpPr>
          <p:cNvPr id="4" name="Text 2"/>
          <p:cNvSpPr/>
          <p:nvPr/>
        </p:nvSpPr>
        <p:spPr>
          <a:xfrm>
            <a:off x="812800" y="1600597"/>
            <a:ext cx="10883392" cy="222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74"/>
              </a:lnSpc>
              <a:buNone/>
            </a:pPr>
            <a:r>
              <a:rPr lang="en-US" sz="1166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Кодировщики брали готовыми, обучали только слияние; точность мерили на роликах, которых модель не видела</a:t>
            </a:r>
            <a:endParaRPr lang="en-US" sz="1166" dirty="0"/>
          </a:p>
        </p:txBody>
      </p:sp>
      <p:sp>
        <p:nvSpPr>
          <p:cNvPr id="5" name="Shape 3"/>
          <p:cNvSpPr/>
          <p:nvPr/>
        </p:nvSpPr>
        <p:spPr>
          <a:xfrm>
            <a:off x="819150" y="1918295"/>
            <a:ext cx="10553700" cy="778073"/>
          </a:xfrm>
          <a:prstGeom prst="roundRect">
            <a:avLst>
              <a:gd name="adj" fmla="val 12242"/>
            </a:avLst>
          </a:prstGeom>
          <a:solidFill>
            <a:srgbClr val="FDFCF9"/>
          </a:solidFill>
          <a:ln w="12700">
            <a:solidFill>
              <a:srgbClr val="D6DA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77900" y="2047413"/>
            <a:ext cx="6042877" cy="2235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16202E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Данные: 10 000 роликов по 15 секунд, разбиты составителями набора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38500" y="2038945"/>
            <a:ext cx="440386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англоязычные блогеры, оценки пяти черт от наблюдателей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77900" y="2245519"/>
            <a:ext cx="3399367" cy="330200"/>
          </a:xfrm>
          <a:custGeom>
            <a:avLst/>
            <a:gdLst/>
            <a:ahLst/>
            <a:cxnLst/>
            <a:rect l="l" t="t" r="r" b="b"/>
            <a:pathLst>
              <a:path w="3399367" h="330200">
                <a:moveTo>
                  <a:pt x="0" y="63500"/>
                </a:moveTo>
                <a:arcTo hR="63500" wR="63500" stAng="10800000" swAng="5400000"/>
                <a:lnTo>
                  <a:pt x="3399367" y="0"/>
                </a:lnTo>
                <a:lnTo>
                  <a:pt x="3399367" y="330200"/>
                </a:lnTo>
                <a:lnTo>
                  <a:pt x="63500" y="330200"/>
                </a:lnTo>
                <a:arcTo hR="63500" wR="63500" stAng="5400000" swAng="5400000"/>
                <a:close/>
              </a:path>
            </a:pathLst>
          </a:custGeom>
          <a:solidFill>
            <a:srgbClr val="C2410C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Обучение · 6000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396317" y="2245519"/>
            <a:ext cx="3399367" cy="330200"/>
          </a:xfrm>
          <a:prstGeom prst="rect">
            <a:avLst/>
          </a:prstGeom>
          <a:solidFill>
            <a:srgbClr val="1D4ED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Проверка · 2000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814734" y="2245519"/>
            <a:ext cx="3399367" cy="330200"/>
          </a:xfrm>
          <a:custGeom>
            <a:avLst/>
            <a:gdLst/>
            <a:ahLst/>
            <a:cxnLst/>
            <a:rect l="l" t="t" r="r" b="b"/>
            <a:pathLst>
              <a:path w="3399367" h="330200">
                <a:moveTo>
                  <a:pt x="3335867" y="0"/>
                </a:moveTo>
                <a:arcTo hR="63500" wR="63500" stAng="16200000" swAng="5400000"/>
                <a:lnTo>
                  <a:pt x="3399367" y="266700"/>
                </a:lnTo>
                <a:arcTo hR="63500" wR="63500" stAng="0" swAng="5400000"/>
                <a:lnTo>
                  <a:pt x="0" y="330200"/>
                </a:lnTo>
                <a:lnTo>
                  <a:pt x="0" y="0"/>
                </a:lnTo>
                <a:close/>
              </a:path>
            </a:pathLst>
          </a:custGeom>
          <a:solidFill>
            <a:srgbClr val="16202E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Тест · 1997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19150" y="2823369"/>
            <a:ext cx="3390900" cy="3012281"/>
          </a:xfrm>
          <a:prstGeom prst="roundRect">
            <a:avLst>
              <a:gd name="adj" fmla="val 3162"/>
            </a:avLst>
          </a:prstGeom>
          <a:solidFill>
            <a:srgbClr val="FDFCF9"/>
          </a:solidFill>
          <a:ln w="12700">
            <a:solidFill>
              <a:srgbClr val="D6DA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5200" y="2956719"/>
            <a:ext cx="3191764" cy="2173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21"/>
              </a:lnSpc>
              <a:buNone/>
            </a:pPr>
            <a:r>
              <a:rPr lang="en-US" sz="1268" b="1" dirty="0">
                <a:solidFill>
                  <a:srgbClr val="C2410C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Рецепт обучения</a:t>
            </a:r>
            <a:endParaRPr lang="en-US" sz="1268" dirty="0"/>
          </a:p>
        </p:txBody>
      </p:sp>
      <p:sp>
        <p:nvSpPr>
          <p:cNvPr id="13" name="Text 11"/>
          <p:cNvSpPr/>
          <p:nvPr/>
        </p:nvSpPr>
        <p:spPr>
          <a:xfrm>
            <a:off x="965200" y="3205824"/>
            <a:ext cx="1003961" cy="2236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кодировщики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095823" y="3205824"/>
            <a:ext cx="968177" cy="2236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10"/>
              </a:lnSpc>
              <a:buNone/>
            </a:pPr>
            <a:r>
              <a:rPr lang="en-US" sz="1150" b="1" dirty="0">
                <a:solidFill>
                  <a:srgbClr val="1620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заморожены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965200" y="3461214"/>
            <a:ext cx="614296" cy="2235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обучали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2903405" y="3461214"/>
            <a:ext cx="1160595" cy="2235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10"/>
              </a:lnSpc>
              <a:buNone/>
            </a:pPr>
            <a:r>
              <a:rPr lang="en-US" sz="1150" b="1" dirty="0">
                <a:solidFill>
                  <a:srgbClr val="1620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только слияние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965200" y="3716536"/>
            <a:ext cx="1582605" cy="2236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агрегация по времени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709730" y="3716536"/>
            <a:ext cx="1354270" cy="2236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10"/>
              </a:lnSpc>
              <a:buNone/>
            </a:pPr>
            <a:r>
              <a:rPr lang="en-US" sz="1150" b="1" dirty="0">
                <a:solidFill>
                  <a:srgbClr val="1620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среднее ‖ разброс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965200" y="3971925"/>
            <a:ext cx="1804292" cy="2235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скрытый размер · головы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3542771" y="3971925"/>
            <a:ext cx="521229" cy="2235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10"/>
              </a:lnSpc>
              <a:buNone/>
            </a:pPr>
            <a:r>
              <a:rPr lang="en-US" sz="1150" b="1" dirty="0">
                <a:solidFill>
                  <a:srgbClr val="1620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512 · 8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965200" y="4227249"/>
            <a:ext cx="570905" cy="2236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dropout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3706614" y="4227249"/>
            <a:ext cx="357386" cy="2236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10"/>
              </a:lnSpc>
              <a:buNone/>
            </a:pPr>
            <a:r>
              <a:rPr lang="en-US" sz="1150" b="1" dirty="0">
                <a:solidFill>
                  <a:srgbClr val="1620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0.15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965200" y="4482638"/>
            <a:ext cx="1156295" cy="2235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функция потерь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708069" y="4482638"/>
            <a:ext cx="355931" cy="2235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10"/>
              </a:lnSpc>
              <a:buNone/>
            </a:pPr>
            <a:r>
              <a:rPr lang="en-US" sz="1150" b="1" dirty="0">
                <a:solidFill>
                  <a:srgbClr val="1620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MAE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965200" y="4737960"/>
            <a:ext cx="1314450" cy="2236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оптимизатор · шаг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3179233" y="4737960"/>
            <a:ext cx="884767" cy="2236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10"/>
              </a:lnSpc>
              <a:buNone/>
            </a:pPr>
            <a:r>
              <a:rPr lang="en-US" sz="1150" b="1" dirty="0">
                <a:solidFill>
                  <a:srgbClr val="1620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Adam · 1e-4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65200" y="4993349"/>
            <a:ext cx="871802" cy="2235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батч · эпохи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3245445" y="4993349"/>
            <a:ext cx="818555" cy="2235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10"/>
              </a:lnSpc>
              <a:buNone/>
            </a:pPr>
            <a:r>
              <a:rPr lang="en-US" sz="1150" b="1" dirty="0">
                <a:solidFill>
                  <a:srgbClr val="1620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32 · до 100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965200" y="5248672"/>
            <a:ext cx="1282898" cy="2236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ранняя остановка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3480660" y="5248672"/>
            <a:ext cx="583340" cy="2236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10"/>
              </a:lnSpc>
              <a:buNone/>
            </a:pPr>
            <a:r>
              <a:rPr lang="en-US" sz="1150" b="1" dirty="0">
                <a:solidFill>
                  <a:srgbClr val="1620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15 эпох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965200" y="5504061"/>
            <a:ext cx="708025" cy="2236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ансамбль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2792611" y="5504061"/>
            <a:ext cx="1271389" cy="2236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10"/>
              </a:lnSpc>
              <a:buNone/>
            </a:pPr>
            <a:r>
              <a:rPr lang="en-US" sz="1150" b="1" dirty="0">
                <a:solidFill>
                  <a:srgbClr val="1620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 запусков (seed)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4400550" y="2823369"/>
            <a:ext cx="3390900" cy="3012281"/>
          </a:xfrm>
          <a:prstGeom prst="roundRect">
            <a:avLst>
              <a:gd name="adj" fmla="val 3162"/>
            </a:avLst>
          </a:prstGeom>
          <a:solidFill>
            <a:srgbClr val="FDFCF9"/>
          </a:solidFill>
          <a:ln w="12700">
            <a:solidFill>
              <a:srgbClr val="D6DAE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46600" y="2956719"/>
            <a:ext cx="3191764" cy="1949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1142" b="1" dirty="0">
                <a:solidFill>
                  <a:srgbClr val="C2410C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Как шло обучение</a:t>
            </a:r>
            <a:endParaRPr lang="en-US" sz="1142" dirty="0"/>
          </a:p>
        </p:txBody>
      </p:sp>
      <p:sp>
        <p:nvSpPr>
          <p:cNvPr id="35" name="Text 33"/>
          <p:cNvSpPr/>
          <p:nvPr/>
        </p:nvSpPr>
        <p:spPr>
          <a:xfrm>
            <a:off x="4546600" y="3202518"/>
            <a:ext cx="88635" cy="5319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C2410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4673336" y="3202518"/>
            <a:ext cx="3061227" cy="5319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53"/>
              </a:lnSpc>
              <a:buNone/>
            </a:pPr>
            <a:r>
              <a:rPr lang="en-US" sz="1150" dirty="0">
                <a:solidFill>
                  <a:srgbClr val="3F4A5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Признаки — один раз: готовые модели превратили 10 000 роликов в числа (~48 мин), сами не менялись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4546600" y="3785262"/>
            <a:ext cx="89429" cy="5319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C2410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4674129" y="3785262"/>
            <a:ext cx="3060409" cy="5319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53"/>
              </a:lnSpc>
              <a:buNone/>
            </a:pPr>
            <a:r>
              <a:rPr lang="en-US" sz="1150" dirty="0">
                <a:solidFill>
                  <a:srgbClr val="3F4A5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Обучение слияния на 6000 роликах: сеть выдаёт шесть оценок и уменьшает ошибку к оценкам людей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4546600" y="4368006"/>
            <a:ext cx="106627" cy="3630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C2410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4691327" y="4368006"/>
            <a:ext cx="3042695" cy="3630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53"/>
              </a:lnSpc>
              <a:buNone/>
            </a:pPr>
            <a:r>
              <a:rPr lang="en-US" sz="1150" dirty="0">
                <a:solidFill>
                  <a:srgbClr val="3F4A5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Лучшая эпоха — по проверочным 2000; 15 эпох без улучшения → стоп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4546600" y="4781882"/>
            <a:ext cx="106495" cy="3630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C2410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4691195" y="4781882"/>
            <a:ext cx="3042831" cy="3630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53"/>
              </a:lnSpc>
              <a:buNone/>
            </a:pPr>
            <a:r>
              <a:rPr lang="en-US" sz="1150" dirty="0">
                <a:solidFill>
                  <a:srgbClr val="3F4A5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Пять запусков с разными случайными весами, их оценки усредняются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4546600" y="5195756"/>
            <a:ext cx="93663" cy="5319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C2410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4678363" y="5195756"/>
            <a:ext cx="3056049" cy="5319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53"/>
              </a:lnSpc>
              <a:buNone/>
            </a:pPr>
            <a:r>
              <a:rPr lang="en-US" sz="1150" dirty="0">
                <a:solidFill>
                  <a:srgbClr val="3F4A5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Тест — один раз, 1997 роликов, которых модель не видела; на тесте ничего не подбиралось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7981950" y="2823369"/>
            <a:ext cx="3390900" cy="3012281"/>
          </a:xfrm>
          <a:prstGeom prst="roundRect">
            <a:avLst>
              <a:gd name="adj" fmla="val 3162"/>
            </a:avLst>
          </a:prstGeom>
          <a:solidFill>
            <a:srgbClr val="FDFCF9"/>
          </a:solidFill>
          <a:ln w="12700">
            <a:solidFill>
              <a:srgbClr val="D6DAE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128000" y="2956719"/>
            <a:ext cx="3191764" cy="1945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1142" b="1" dirty="0">
                <a:solidFill>
                  <a:srgbClr val="C2410C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Что поднимало качество (CCC)</a:t>
            </a:r>
            <a:endParaRPr lang="en-US" sz="1142" dirty="0"/>
          </a:p>
        </p:txBody>
      </p:sp>
      <p:sp>
        <p:nvSpPr>
          <p:cNvPr id="47" name="Text 45"/>
          <p:cNvSpPr/>
          <p:nvPr/>
        </p:nvSpPr>
        <p:spPr>
          <a:xfrm>
            <a:off x="8128000" y="3189354"/>
            <a:ext cx="3191764" cy="5118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48"/>
              </a:lnSpc>
              <a:buNone/>
            </a:pPr>
            <a:r>
              <a:rPr lang="en-US" sz="1114" dirty="0">
                <a:solidFill>
                  <a:srgbClr val="3F4A5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Лицо (CLIP) — основа оценки. Дальше каждый шаг добавлял к согласованности с людьми:</a:t>
            </a:r>
            <a:endParaRPr lang="en-US" sz="1114" dirty="0"/>
          </a:p>
        </p:txBody>
      </p:sp>
      <p:sp>
        <p:nvSpPr>
          <p:cNvPr id="48" name="Text 46"/>
          <p:cNvSpPr/>
          <p:nvPr/>
        </p:nvSpPr>
        <p:spPr>
          <a:xfrm>
            <a:off x="8128000" y="3739291"/>
            <a:ext cx="3191764" cy="1905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323"/>
              </a:lnSpc>
              <a:buNone/>
            </a:pPr>
            <a:r>
              <a:rPr lang="en-US" sz="945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голос, текст, поведение вместе</a:t>
            </a:r>
            <a:endParaRPr lang="en-US" sz="945" dirty="0"/>
          </a:p>
        </p:txBody>
      </p:sp>
      <p:sp>
        <p:nvSpPr>
          <p:cNvPr id="49" name="Shape 47"/>
          <p:cNvSpPr/>
          <p:nvPr/>
        </p:nvSpPr>
        <p:spPr>
          <a:xfrm>
            <a:off x="8128000" y="3946327"/>
            <a:ext cx="1397000" cy="139700"/>
          </a:xfrm>
          <a:prstGeom prst="roundRect">
            <a:avLst>
              <a:gd name="adj" fmla="val 22727"/>
            </a:avLst>
          </a:prstGeom>
          <a:solidFill>
            <a:srgbClr val="1D4ED8"/>
          </a:solidFill>
          <a:ln/>
        </p:spPr>
      </p:sp>
      <p:sp>
        <p:nvSpPr>
          <p:cNvPr id="50" name="Text 48"/>
          <p:cNvSpPr/>
          <p:nvPr/>
        </p:nvSpPr>
        <p:spPr>
          <a:xfrm>
            <a:off x="9588500" y="3913981"/>
            <a:ext cx="532672" cy="2298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150" b="1" dirty="0">
                <a:solidFill>
                  <a:srgbClr val="1620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+0.014</a:t>
            </a:r>
            <a:endParaRPr lang="en-US" sz="1150" dirty="0"/>
          </a:p>
        </p:txBody>
      </p:sp>
      <p:sp>
        <p:nvSpPr>
          <p:cNvPr id="51" name="Text 49"/>
          <p:cNvSpPr/>
          <p:nvPr/>
        </p:nvSpPr>
        <p:spPr>
          <a:xfrm>
            <a:off x="8128000" y="4166064"/>
            <a:ext cx="3191764" cy="1905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323"/>
              </a:lnSpc>
              <a:buNone/>
            </a:pPr>
            <a:r>
              <a:rPr lang="en-US" sz="945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пять запусков и усреднение</a:t>
            </a:r>
            <a:endParaRPr lang="en-US" sz="945" dirty="0"/>
          </a:p>
        </p:txBody>
      </p:sp>
      <p:sp>
        <p:nvSpPr>
          <p:cNvPr id="52" name="Shape 50"/>
          <p:cNvSpPr/>
          <p:nvPr/>
        </p:nvSpPr>
        <p:spPr>
          <a:xfrm>
            <a:off x="8128000" y="4373166"/>
            <a:ext cx="996950" cy="139700"/>
          </a:xfrm>
          <a:prstGeom prst="roundRect">
            <a:avLst>
              <a:gd name="adj" fmla="val 22727"/>
            </a:avLst>
          </a:prstGeom>
          <a:solidFill>
            <a:srgbClr val="1D4ED8"/>
          </a:solidFill>
          <a:ln/>
        </p:spPr>
      </p:sp>
      <p:sp>
        <p:nvSpPr>
          <p:cNvPr id="53" name="Text 51"/>
          <p:cNvSpPr/>
          <p:nvPr/>
        </p:nvSpPr>
        <p:spPr>
          <a:xfrm>
            <a:off x="9188450" y="4340820"/>
            <a:ext cx="532672" cy="2298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150" b="1" dirty="0">
                <a:solidFill>
                  <a:srgbClr val="1620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+0.010</a:t>
            </a:r>
            <a:endParaRPr lang="en-US" sz="1150" dirty="0"/>
          </a:p>
        </p:txBody>
      </p:sp>
      <p:sp>
        <p:nvSpPr>
          <p:cNvPr id="54" name="Text 52"/>
          <p:cNvSpPr/>
          <p:nvPr/>
        </p:nvSpPr>
        <p:spPr>
          <a:xfrm>
            <a:off x="8128000" y="4592903"/>
            <a:ext cx="3191764" cy="1905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323"/>
              </a:lnSpc>
              <a:buNone/>
            </a:pPr>
            <a:r>
              <a:rPr lang="en-US" sz="945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ансамбль с OCEAN-AI — самый большой шаг</a:t>
            </a:r>
            <a:endParaRPr lang="en-US" sz="945" dirty="0"/>
          </a:p>
        </p:txBody>
      </p:sp>
      <p:sp>
        <p:nvSpPr>
          <p:cNvPr id="55" name="Shape 53"/>
          <p:cNvSpPr/>
          <p:nvPr/>
        </p:nvSpPr>
        <p:spPr>
          <a:xfrm>
            <a:off x="8128000" y="4800005"/>
            <a:ext cx="1797050" cy="139700"/>
          </a:xfrm>
          <a:prstGeom prst="roundRect">
            <a:avLst>
              <a:gd name="adj" fmla="val 22727"/>
            </a:avLst>
          </a:prstGeom>
          <a:solidFill>
            <a:srgbClr val="C2410C"/>
          </a:solidFill>
          <a:ln/>
        </p:spPr>
      </p:sp>
      <p:sp>
        <p:nvSpPr>
          <p:cNvPr id="56" name="Text 54"/>
          <p:cNvSpPr/>
          <p:nvPr/>
        </p:nvSpPr>
        <p:spPr>
          <a:xfrm>
            <a:off x="9988550" y="4767659"/>
            <a:ext cx="532672" cy="2298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150" b="1" dirty="0">
                <a:solidFill>
                  <a:srgbClr val="1620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+0.018</a:t>
            </a:r>
            <a:endParaRPr lang="en-US" sz="1150" dirty="0"/>
          </a:p>
        </p:txBody>
      </p:sp>
      <p:sp>
        <p:nvSpPr>
          <p:cNvPr id="57" name="Shape 55"/>
          <p:cNvSpPr/>
          <p:nvPr/>
        </p:nvSpPr>
        <p:spPr>
          <a:xfrm>
            <a:off x="8128000" y="5019742"/>
            <a:ext cx="3098800" cy="682559"/>
          </a:xfrm>
          <a:prstGeom prst="roundRect">
            <a:avLst>
              <a:gd name="adj" fmla="val 11164"/>
            </a:avLst>
          </a:prstGeom>
          <a:solidFill>
            <a:srgbClr val="16202E"/>
          </a:solidFill>
          <a:ln/>
        </p:spPr>
      </p:sp>
      <p:sp>
        <p:nvSpPr>
          <p:cNvPr id="58" name="Text 56"/>
          <p:cNvSpPr/>
          <p:nvPr/>
        </p:nvSpPr>
        <p:spPr>
          <a:xfrm>
            <a:off x="8229600" y="5108642"/>
            <a:ext cx="2982468" cy="1855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271"/>
              </a:lnSpc>
              <a:buNone/>
            </a:pPr>
            <a:r>
              <a:rPr lang="en-US" sz="978" b="1" dirty="0">
                <a:solidFill>
                  <a:srgbClr val="F2F0E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Итог на тесте:</a:t>
            </a:r>
            <a:r>
              <a:rPr lang="en-US" sz="978" dirty="0">
                <a:solidFill>
                  <a:srgbClr val="F2F0E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точность 0.920 · CCC 0.715</a:t>
            </a:r>
            <a:endParaRPr lang="en-US" sz="978" dirty="0"/>
          </a:p>
        </p:txBody>
      </p:sp>
      <p:sp>
        <p:nvSpPr>
          <p:cNvPr id="59" name="Text 57"/>
          <p:cNvSpPr/>
          <p:nvPr/>
        </p:nvSpPr>
        <p:spPr>
          <a:xfrm>
            <a:off x="8229600" y="5287831"/>
            <a:ext cx="2982468" cy="178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224"/>
              </a:lnSpc>
              <a:buNone/>
            </a:pPr>
            <a:r>
              <a:rPr lang="en-US" sz="942" dirty="0">
                <a:solidFill>
                  <a:srgbClr val="C9D1D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в статье MM-PSYCHE — 0.918 · 0.740</a:t>
            </a:r>
            <a:endParaRPr lang="en-US" sz="942" dirty="0"/>
          </a:p>
        </p:txBody>
      </p:sp>
      <p:sp>
        <p:nvSpPr>
          <p:cNvPr id="60" name="Text 58"/>
          <p:cNvSpPr/>
          <p:nvPr/>
        </p:nvSpPr>
        <p:spPr>
          <a:xfrm>
            <a:off x="8229600" y="5460141"/>
            <a:ext cx="2982468" cy="178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224"/>
              </a:lnSpc>
              <a:buNone/>
            </a:pPr>
            <a:r>
              <a:rPr lang="en-US" sz="942" dirty="0">
                <a:solidFill>
                  <a:srgbClr val="C9D1D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ансамбль с OCEAN-AI — 0.927 · 0.733</a:t>
            </a:r>
            <a:endParaRPr lang="en-US" sz="942" dirty="0"/>
          </a:p>
        </p:txBody>
      </p:sp>
      <p:sp>
        <p:nvSpPr>
          <p:cNvPr id="61" name="Text 59"/>
          <p:cNvSpPr/>
          <p:nvPr/>
        </p:nvSpPr>
        <p:spPr>
          <a:xfrm>
            <a:off x="812800" y="6238280"/>
            <a:ext cx="85026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BS Profiler 3.1 · анализ человека по видео · © 2026 AMLAI</a:t>
            </a:r>
            <a:endParaRPr lang="en-US" sz="1200" dirty="0"/>
          </a:p>
        </p:txBody>
      </p:sp>
      <p:sp>
        <p:nvSpPr>
          <p:cNvPr id="62" name="Text 60"/>
          <p:cNvSpPr/>
          <p:nvPr/>
        </p:nvSpPr>
        <p:spPr>
          <a:xfrm>
            <a:off x="10566400" y="6238280"/>
            <a:ext cx="812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EF1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C2410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ИНТЕРФЕЙС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78520"/>
            <a:ext cx="10883392" cy="492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680"/>
              </a:lnSpc>
              <a:buNone/>
            </a:pPr>
            <a:r>
              <a:rPr lang="en-US" sz="3200" b="1" dirty="0">
                <a:solidFill>
                  <a:srgbClr val="16202E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Так выглядит страница результата</a:t>
            </a:r>
            <a:endParaRPr lang="en-US" sz="3200" dirty="0"/>
          </a:p>
        </p:txBody>
      </p:sp>
      <p:pic>
        <p:nvPicPr>
          <p:cNvPr id="4" name="Image 0" descr="Верх страницы BS Profiler 3.1: загрузка видео, выбор модели AMLAI 1.0 или OCEAN-AI, характеристика личности с типом MBTI и цветные карточки ключевых фактов">    </p:cNvPr>
          <p:cNvPicPr>
            <a:picLocks noChangeAspect="1"/>
          </p:cNvPicPr>
          <p:nvPr/>
        </p:nvPicPr>
        <p:blipFill>
          <a:blip r:embed="rId1"/>
          <a:srcRect l="-111" r="-111" t="0" b="0"/>
          <a:stretch/>
        </p:blipFill>
        <p:spPr>
          <a:xfrm>
            <a:off x="825500" y="1810941"/>
            <a:ext cx="7086600" cy="4006850"/>
          </a:xfrm>
          <a:prstGeom prst="roundRect">
            <a:avLst>
              <a:gd name="adj" fmla="val 1585"/>
            </a:avLst>
          </a:prstGeom>
        </p:spPr>
      </p:pic>
      <p:sp>
        <p:nvSpPr>
          <p:cNvPr id="5" name="Shape 2"/>
          <p:cNvSpPr/>
          <p:nvPr/>
        </p:nvSpPr>
        <p:spPr>
          <a:xfrm>
            <a:off x="819150" y="1804591"/>
            <a:ext cx="7099300" cy="4019550"/>
          </a:xfrm>
          <a:prstGeom prst="roundRect">
            <a:avLst>
              <a:gd name="adj" fmla="val 1738"/>
            </a:avLst>
          </a:prstGeom>
          <a:noFill/>
          <a:ln w="12700">
            <a:solidFill>
              <a:srgbClr val="C9CFD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0" y="1798241"/>
            <a:ext cx="3244088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1.</a:t>
            </a: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Загрузка ролика и выбор модели: AMLAI 1.0 или OCEAN-AI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229600" y="2377281"/>
            <a:ext cx="3244088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2.</a:t>
            </a: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Характеристика личности и тип MBTI простыми словами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229600" y="2956322"/>
            <a:ext cx="3244088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3.</a:t>
            </a: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Ключевые факты: цвет значения — ниже, около или выше нейтрального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229600" y="3535363"/>
            <a:ext cx="324408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4.</a:t>
            </a: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PDF-отчёт одной кнопкой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229600" y="3901083"/>
            <a:ext cx="3244088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5.</a:t>
            </a: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Ниже — 8 вкладок с графиками и подробностями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12800" y="6238280"/>
            <a:ext cx="85026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BS Profiler 3.1 · анализ человека по видео · © 2026 AMLAI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0566400" y="6238280"/>
            <a:ext cx="812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C2410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ИНТЕРФЕЙС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78520"/>
            <a:ext cx="10883392" cy="492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680"/>
              </a:lnSpc>
              <a:buNone/>
            </a:pPr>
            <a:r>
              <a:rPr lang="en-US" sz="3200" b="1" dirty="0">
                <a:solidFill>
                  <a:srgbClr val="16202E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Графики по ходу ролика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798241"/>
            <a:ext cx="6223000" cy="1962150"/>
          </a:xfrm>
          <a:prstGeom prst="roundRect">
            <a:avLst>
              <a:gd name="adj" fmla="val 3883"/>
            </a:avLst>
          </a:prstGeom>
          <a:solidFill>
            <a:srgbClr val="FFFFFF"/>
          </a:solidFill>
          <a:ln/>
        </p:spPr>
      </p:sp>
      <p:pic>
        <p:nvPicPr>
          <p:cNvPr id="5" name="Image 0" descr="График «Big Five по ходу ролика»: оценки пяти черт и «собеседования» по каждому 20-секундному отрезку десятиминутного ролика; серой полосой отмечен отрезок для объяснений">    </p:cNvPr>
          <p:cNvPicPr>
            <a:picLocks noChangeAspect="1"/>
          </p:cNvPicPr>
          <p:nvPr/>
        </p:nvPicPr>
        <p:blipFill>
          <a:blip r:embed="rId1"/>
          <a:srcRect l="-450" r="-450" t="0" b="0"/>
          <a:stretch/>
        </p:blipFill>
        <p:spPr>
          <a:xfrm>
            <a:off x="825500" y="1810941"/>
            <a:ext cx="6197600" cy="1936750"/>
          </a:xfrm>
          <a:prstGeom prst="roundRect">
            <a:avLst>
              <a:gd name="adj" fmla="val 3279"/>
            </a:avLst>
          </a:prstGeom>
        </p:spPr>
      </p:pic>
      <p:sp>
        <p:nvSpPr>
          <p:cNvPr id="6" name="Shape 3"/>
          <p:cNvSpPr/>
          <p:nvPr/>
        </p:nvSpPr>
        <p:spPr>
          <a:xfrm>
            <a:off x="819150" y="1804591"/>
            <a:ext cx="6210300" cy="1949450"/>
          </a:xfrm>
          <a:prstGeom prst="roundRect">
            <a:avLst>
              <a:gd name="adj" fmla="val 3583"/>
            </a:avLst>
          </a:prstGeom>
          <a:noFill/>
          <a:ln w="12700">
            <a:solidFill>
              <a:srgbClr val="D6DAE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12800" y="3861991"/>
            <a:ext cx="6223000" cy="1905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</p:spPr>
      </p:sp>
      <p:pic>
        <p:nvPicPr>
          <p:cNvPr id="8" name="Image 1" descr="Два графика: голос по ходу ролика (возбуждение, уверенность, позитивность) и речь по ходу ролика (темп в словах в минуту и доля пауз)">    </p:cNvPr>
          <p:cNvPicPr>
            <a:picLocks noChangeAspect="1"/>
          </p:cNvPicPr>
          <p:nvPr/>
        </p:nvPicPr>
        <p:blipFill>
          <a:blip r:embed="rId2"/>
          <a:srcRect l="-499" r="-499" t="0" b="0"/>
          <a:stretch/>
        </p:blipFill>
        <p:spPr>
          <a:xfrm>
            <a:off x="825500" y="3874691"/>
            <a:ext cx="6197600" cy="1879600"/>
          </a:xfrm>
          <a:prstGeom prst="roundRect">
            <a:avLst>
              <a:gd name="adj" fmla="val 3378"/>
            </a:avLst>
          </a:prstGeom>
        </p:spPr>
      </p:pic>
      <p:sp>
        <p:nvSpPr>
          <p:cNvPr id="9" name="Shape 5"/>
          <p:cNvSpPr/>
          <p:nvPr/>
        </p:nvSpPr>
        <p:spPr>
          <a:xfrm>
            <a:off x="819150" y="3868341"/>
            <a:ext cx="6210300" cy="1892300"/>
          </a:xfrm>
          <a:prstGeom prst="roundRect">
            <a:avLst>
              <a:gd name="adj" fmla="val 3691"/>
            </a:avLst>
          </a:prstGeom>
          <a:noFill/>
          <a:ln w="12700">
            <a:solidFill>
              <a:srgbClr val="D6DAE0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340600" y="1798241"/>
            <a:ext cx="4159758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Big Five по отрезкам.</a:t>
            </a: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Оценка пяти черт и «собеседования» каждые 20 секунд: видно, где человек держится ровно, а где меняется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7340600" y="2590602"/>
            <a:ext cx="4159758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Серая полоса</a:t>
            </a: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— отрезок, по которому строятся объяснения и ключевые кадры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7340600" y="3169642"/>
            <a:ext cx="4159758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Голос</a:t>
            </a: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— возбуждение, уверенность и позитивность по ходу ролика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7340600" y="3748683"/>
            <a:ext cx="415975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Речь</a:t>
            </a: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— темп в словах в минуту и доля пауз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7340600" y="4114403"/>
            <a:ext cx="4159758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На странице графики интерактивные: при наведении видны время и значения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812800" y="6238280"/>
            <a:ext cx="85026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BS Profiler 3.1 · анализ человека по видео · © 2026 AMLAI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10566400" y="6238280"/>
            <a:ext cx="812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C2410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ИНТЕРПРЕТАЦИЯ И РЕЗУЛЬТАТ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53120"/>
            <a:ext cx="10883392" cy="492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680"/>
              </a:lnSpc>
              <a:buNone/>
            </a:pPr>
            <a:r>
              <a:rPr lang="en-US" sz="3200" b="1" dirty="0">
                <a:solidFill>
                  <a:srgbClr val="16202E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Big Five → тип MBTI → отчёт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12800" y="1747441"/>
            <a:ext cx="14732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2209800" y="1747441"/>
            <a:ext cx="12700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0,35–0,65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403600" y="1747441"/>
            <a:ext cx="14732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19150" y="2061040"/>
            <a:ext cx="2273300" cy="378420"/>
          </a:xfrm>
          <a:prstGeom prst="roundRect">
            <a:avLst>
              <a:gd name="adj" fmla="val 21814"/>
            </a:avLst>
          </a:prstGeom>
          <a:solidFill>
            <a:srgbClr val="FDFCF9"/>
          </a:solidFill>
          <a:ln w="12700">
            <a:solidFill>
              <a:srgbClr val="D6DAE0"/>
            </a:solidFill>
            <a:prstDash val="solid"/>
          </a:ln>
        </p:spPr>
        <p:txBody>
          <a:bodyPr wrap="square" lIns="109172" tIns="58372" rIns="48974" bIns="32972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16202E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Экстраверсия</a:t>
            </a:r>
            <a:endParaRPr lang="en-US" sz="1400" dirty="0"/>
          </a:p>
        </p:txBody>
      </p:sp>
      <p:pic>
        <p:nvPicPr>
          <p:cNvPr id="8" name="Image 0" descr="connector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00400" y="2199481"/>
            <a:ext cx="355600" cy="1016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3657600" y="2047081"/>
            <a:ext cx="1422400" cy="406400"/>
          </a:xfrm>
          <a:custGeom>
            <a:avLst/>
            <a:gdLst/>
            <a:ahLst/>
            <a:cxnLst/>
            <a:rect l="l" t="t" r="r" b="b"/>
            <a:pathLst>
              <a:path w="1422400" h="406400">
                <a:moveTo>
                  <a:pt x="0" y="88900"/>
                </a:moveTo>
                <a:arcTo hR="88900" wR="88900" stAng="10800000" swAng="5400000"/>
                <a:lnTo>
                  <a:pt x="1422400" y="0"/>
                </a:lnTo>
                <a:lnTo>
                  <a:pt x="1422400" y="406400"/>
                </a:lnTo>
                <a:lnTo>
                  <a:pt x="88900" y="406400"/>
                </a:lnTo>
                <a:arcTo hR="88900" wR="88900" stAng="5400000" swAng="5400000"/>
                <a:close/>
              </a:path>
            </a:pathLst>
          </a:custGeom>
          <a:solidFill>
            <a:srgbClr val="DDE6FA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D4ED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080000" y="2047081"/>
            <a:ext cx="1219200" cy="406400"/>
          </a:xfrm>
          <a:prstGeom prst="rect">
            <a:avLst/>
          </a:prstGeom>
          <a:solidFill>
            <a:srgbClr val="E3E6EA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X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299200" y="2047081"/>
            <a:ext cx="1422400" cy="406400"/>
          </a:xfrm>
          <a:custGeom>
            <a:avLst/>
            <a:gdLst/>
            <a:ahLst/>
            <a:cxnLst/>
            <a:rect l="l" t="t" r="r" b="b"/>
            <a:pathLst>
              <a:path w="1422400" h="406400">
                <a:moveTo>
                  <a:pt x="1333500" y="0"/>
                </a:moveTo>
                <a:arcTo hR="88900" wR="88900" stAng="16200000" swAng="5400000"/>
                <a:lnTo>
                  <a:pt x="1422400" y="317500"/>
                </a:lnTo>
                <a:arcTo hR="88900" wR="88900" stAng="0" swAng="5400000"/>
                <a:lnTo>
                  <a:pt x="0" y="406400"/>
                </a:lnTo>
                <a:lnTo>
                  <a:pt x="0" y="0"/>
                </a:lnTo>
                <a:close/>
              </a:path>
            </a:pathLst>
          </a:custGeom>
          <a:solidFill>
            <a:srgbClr val="FBE3D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B03A0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7823200" y="2036961"/>
            <a:ext cx="366268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 — экстраверсия, I — интроверсия · связь высокая, r = 0,74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19150" y="2563881"/>
            <a:ext cx="2273300" cy="378420"/>
          </a:xfrm>
          <a:prstGeom prst="roundRect">
            <a:avLst>
              <a:gd name="adj" fmla="val 21814"/>
            </a:avLst>
          </a:prstGeom>
          <a:solidFill>
            <a:srgbClr val="FDFCF9"/>
          </a:solidFill>
          <a:ln w="12700">
            <a:solidFill>
              <a:srgbClr val="D6DAE0"/>
            </a:solidFill>
            <a:prstDash val="solid"/>
          </a:ln>
        </p:spPr>
        <p:txBody>
          <a:bodyPr wrap="square" lIns="109172" tIns="58372" rIns="48974" bIns="32972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16202E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Открытость опыту</a:t>
            </a:r>
            <a:endParaRPr lang="en-US" sz="1400" dirty="0"/>
          </a:p>
        </p:txBody>
      </p:sp>
      <p:pic>
        <p:nvPicPr>
          <p:cNvPr id="14" name="Image 1" descr="connector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200400" y="2702322"/>
            <a:ext cx="355600" cy="1016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657600" y="2549922"/>
            <a:ext cx="1422400" cy="406400"/>
          </a:xfrm>
          <a:custGeom>
            <a:avLst/>
            <a:gdLst/>
            <a:ahLst/>
            <a:cxnLst/>
            <a:rect l="l" t="t" r="r" b="b"/>
            <a:pathLst>
              <a:path w="1422400" h="406400">
                <a:moveTo>
                  <a:pt x="0" y="88900"/>
                </a:moveTo>
                <a:arcTo hR="88900" wR="88900" stAng="10800000" swAng="5400000"/>
                <a:lnTo>
                  <a:pt x="1422400" y="0"/>
                </a:lnTo>
                <a:lnTo>
                  <a:pt x="1422400" y="406400"/>
                </a:lnTo>
                <a:lnTo>
                  <a:pt x="88900" y="406400"/>
                </a:lnTo>
                <a:arcTo hR="88900" wR="88900" stAng="5400000" swAng="5400000"/>
                <a:close/>
              </a:path>
            </a:pathLst>
          </a:custGeom>
          <a:solidFill>
            <a:srgbClr val="DDE6FA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D4ED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5080000" y="2549922"/>
            <a:ext cx="1219200" cy="406400"/>
          </a:xfrm>
          <a:prstGeom prst="rect">
            <a:avLst/>
          </a:prstGeom>
          <a:solidFill>
            <a:srgbClr val="E3E6EA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X</a:t>
            </a:r>
            <a:endParaRPr lang="en-US" sz="1600" dirty="0"/>
          </a:p>
        </p:txBody>
      </p:sp>
      <p:sp>
        <p:nvSpPr>
          <p:cNvPr id="17" name="Text 13"/>
          <p:cNvSpPr/>
          <p:nvPr/>
        </p:nvSpPr>
        <p:spPr>
          <a:xfrm>
            <a:off x="6299200" y="2549922"/>
            <a:ext cx="1422400" cy="406400"/>
          </a:xfrm>
          <a:custGeom>
            <a:avLst/>
            <a:gdLst/>
            <a:ahLst/>
            <a:cxnLst/>
            <a:rect l="l" t="t" r="r" b="b"/>
            <a:pathLst>
              <a:path w="1422400" h="406400">
                <a:moveTo>
                  <a:pt x="1333500" y="0"/>
                </a:moveTo>
                <a:arcTo hR="88900" wR="88900" stAng="16200000" swAng="5400000"/>
                <a:lnTo>
                  <a:pt x="1422400" y="317500"/>
                </a:lnTo>
                <a:arcTo hR="88900" wR="88900" stAng="0" swAng="5400000"/>
                <a:lnTo>
                  <a:pt x="0" y="406400"/>
                </a:lnTo>
                <a:lnTo>
                  <a:pt x="0" y="0"/>
                </a:lnTo>
                <a:close/>
              </a:path>
            </a:pathLst>
          </a:custGeom>
          <a:solidFill>
            <a:srgbClr val="FBE3D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B03A0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</a:t>
            </a:r>
            <a:endParaRPr lang="en-US" sz="1600" dirty="0"/>
          </a:p>
        </p:txBody>
      </p:sp>
      <p:sp>
        <p:nvSpPr>
          <p:cNvPr id="18" name="Text 14"/>
          <p:cNvSpPr/>
          <p:nvPr/>
        </p:nvSpPr>
        <p:spPr>
          <a:xfrm>
            <a:off x="7823200" y="2539802"/>
            <a:ext cx="366268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 — интуиция, S — сенсорика · связь высокая, r = 0,72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819150" y="3066721"/>
            <a:ext cx="2273300" cy="378420"/>
          </a:xfrm>
          <a:prstGeom prst="roundRect">
            <a:avLst>
              <a:gd name="adj" fmla="val 21814"/>
            </a:avLst>
          </a:prstGeom>
          <a:solidFill>
            <a:srgbClr val="FDFCF9"/>
          </a:solidFill>
          <a:ln w="12700">
            <a:solidFill>
              <a:srgbClr val="D6DAE0"/>
            </a:solidFill>
            <a:prstDash val="solid"/>
          </a:ln>
        </p:spPr>
        <p:txBody>
          <a:bodyPr wrap="square" lIns="109172" tIns="58372" rIns="48974" bIns="32972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16202E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Доброжелательность</a:t>
            </a:r>
            <a:endParaRPr lang="en-US" sz="1400" dirty="0"/>
          </a:p>
        </p:txBody>
      </p:sp>
      <p:pic>
        <p:nvPicPr>
          <p:cNvPr id="20" name="Image 2" descr="connector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200400" y="3205163"/>
            <a:ext cx="355600" cy="10160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3657600" y="3052763"/>
            <a:ext cx="1422400" cy="406400"/>
          </a:xfrm>
          <a:custGeom>
            <a:avLst/>
            <a:gdLst/>
            <a:ahLst/>
            <a:cxnLst/>
            <a:rect l="l" t="t" r="r" b="b"/>
            <a:pathLst>
              <a:path w="1422400" h="406400">
                <a:moveTo>
                  <a:pt x="0" y="88900"/>
                </a:moveTo>
                <a:arcTo hR="88900" wR="88900" stAng="10800000" swAng="5400000"/>
                <a:lnTo>
                  <a:pt x="1422400" y="0"/>
                </a:lnTo>
                <a:lnTo>
                  <a:pt x="1422400" y="406400"/>
                </a:lnTo>
                <a:lnTo>
                  <a:pt x="88900" y="406400"/>
                </a:lnTo>
                <a:arcTo hR="88900" wR="88900" stAng="5400000" swAng="5400000"/>
                <a:close/>
              </a:path>
            </a:pathLst>
          </a:custGeom>
          <a:solidFill>
            <a:srgbClr val="DDE6FA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D4ED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</a:t>
            </a:r>
            <a:endParaRPr lang="en-US" sz="1600" dirty="0"/>
          </a:p>
        </p:txBody>
      </p:sp>
      <p:sp>
        <p:nvSpPr>
          <p:cNvPr id="22" name="Text 17"/>
          <p:cNvSpPr/>
          <p:nvPr/>
        </p:nvSpPr>
        <p:spPr>
          <a:xfrm>
            <a:off x="5080000" y="3052763"/>
            <a:ext cx="1219200" cy="406400"/>
          </a:xfrm>
          <a:prstGeom prst="rect">
            <a:avLst/>
          </a:prstGeom>
          <a:solidFill>
            <a:srgbClr val="E3E6EA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X</a:t>
            </a:r>
            <a:endParaRPr lang="en-US" sz="1600" dirty="0"/>
          </a:p>
        </p:txBody>
      </p:sp>
      <p:sp>
        <p:nvSpPr>
          <p:cNvPr id="23" name="Text 18"/>
          <p:cNvSpPr/>
          <p:nvPr/>
        </p:nvSpPr>
        <p:spPr>
          <a:xfrm>
            <a:off x="6299200" y="3052763"/>
            <a:ext cx="1422400" cy="406400"/>
          </a:xfrm>
          <a:custGeom>
            <a:avLst/>
            <a:gdLst/>
            <a:ahLst/>
            <a:cxnLst/>
            <a:rect l="l" t="t" r="r" b="b"/>
            <a:pathLst>
              <a:path w="1422400" h="406400">
                <a:moveTo>
                  <a:pt x="1333500" y="0"/>
                </a:moveTo>
                <a:arcTo hR="88900" wR="88900" stAng="16200000" swAng="5400000"/>
                <a:lnTo>
                  <a:pt x="1422400" y="317500"/>
                </a:lnTo>
                <a:arcTo hR="88900" wR="88900" stAng="0" swAng="5400000"/>
                <a:lnTo>
                  <a:pt x="0" y="406400"/>
                </a:lnTo>
                <a:lnTo>
                  <a:pt x="0" y="0"/>
                </a:lnTo>
                <a:close/>
              </a:path>
            </a:pathLst>
          </a:custGeom>
          <a:solidFill>
            <a:srgbClr val="FBE3D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B03A0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</a:t>
            </a:r>
            <a:endParaRPr lang="en-US" sz="1600" dirty="0"/>
          </a:p>
        </p:txBody>
      </p:sp>
      <p:sp>
        <p:nvSpPr>
          <p:cNvPr id="24" name="Text 19"/>
          <p:cNvSpPr/>
          <p:nvPr/>
        </p:nvSpPr>
        <p:spPr>
          <a:xfrm>
            <a:off x="7823200" y="3042642"/>
            <a:ext cx="366268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 — чувство, T — мышление · связь средняя, r = 0,44</a:t>
            </a:r>
            <a:endParaRPr lang="en-US" sz="1200" dirty="0"/>
          </a:p>
        </p:txBody>
      </p:sp>
      <p:sp>
        <p:nvSpPr>
          <p:cNvPr id="25" name="Text 20"/>
          <p:cNvSpPr/>
          <p:nvPr/>
        </p:nvSpPr>
        <p:spPr>
          <a:xfrm>
            <a:off x="819150" y="3569562"/>
            <a:ext cx="2273300" cy="378420"/>
          </a:xfrm>
          <a:prstGeom prst="roundRect">
            <a:avLst>
              <a:gd name="adj" fmla="val 21814"/>
            </a:avLst>
          </a:prstGeom>
          <a:solidFill>
            <a:srgbClr val="FDFCF9"/>
          </a:solidFill>
          <a:ln w="12700">
            <a:solidFill>
              <a:srgbClr val="D6DAE0"/>
            </a:solidFill>
            <a:prstDash val="solid"/>
          </a:ln>
        </p:spPr>
        <p:txBody>
          <a:bodyPr wrap="square" lIns="109172" tIns="58372" rIns="48974" bIns="32972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16202E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Добросовестность</a:t>
            </a:r>
            <a:endParaRPr lang="en-US" sz="1400" dirty="0"/>
          </a:p>
        </p:txBody>
      </p:sp>
      <p:pic>
        <p:nvPicPr>
          <p:cNvPr id="26" name="Image 3" descr="connector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3200400" y="3708003"/>
            <a:ext cx="355600" cy="10160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3657600" y="3555603"/>
            <a:ext cx="1422400" cy="406400"/>
          </a:xfrm>
          <a:custGeom>
            <a:avLst/>
            <a:gdLst/>
            <a:ahLst/>
            <a:cxnLst/>
            <a:rect l="l" t="t" r="r" b="b"/>
            <a:pathLst>
              <a:path w="1422400" h="406400">
                <a:moveTo>
                  <a:pt x="0" y="88900"/>
                </a:moveTo>
                <a:arcTo hR="88900" wR="88900" stAng="10800000" swAng="5400000"/>
                <a:lnTo>
                  <a:pt x="1422400" y="0"/>
                </a:lnTo>
                <a:lnTo>
                  <a:pt x="1422400" y="406400"/>
                </a:lnTo>
                <a:lnTo>
                  <a:pt x="88900" y="406400"/>
                </a:lnTo>
                <a:arcTo hR="88900" wR="88900" stAng="5400000" swAng="5400000"/>
                <a:close/>
              </a:path>
            </a:pathLst>
          </a:custGeom>
          <a:solidFill>
            <a:srgbClr val="DDE6FA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D4ED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</a:t>
            </a:r>
            <a:endParaRPr lang="en-US" sz="1600" dirty="0"/>
          </a:p>
        </p:txBody>
      </p:sp>
      <p:sp>
        <p:nvSpPr>
          <p:cNvPr id="28" name="Text 22"/>
          <p:cNvSpPr/>
          <p:nvPr/>
        </p:nvSpPr>
        <p:spPr>
          <a:xfrm>
            <a:off x="5080000" y="3555603"/>
            <a:ext cx="1219200" cy="406400"/>
          </a:xfrm>
          <a:prstGeom prst="rect">
            <a:avLst/>
          </a:prstGeom>
          <a:solidFill>
            <a:srgbClr val="E3E6EA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X</a:t>
            </a:r>
            <a:endParaRPr lang="en-US" sz="1600" dirty="0"/>
          </a:p>
        </p:txBody>
      </p:sp>
      <p:sp>
        <p:nvSpPr>
          <p:cNvPr id="29" name="Text 23"/>
          <p:cNvSpPr/>
          <p:nvPr/>
        </p:nvSpPr>
        <p:spPr>
          <a:xfrm>
            <a:off x="6299200" y="3555603"/>
            <a:ext cx="1422400" cy="406400"/>
          </a:xfrm>
          <a:custGeom>
            <a:avLst/>
            <a:gdLst/>
            <a:ahLst/>
            <a:cxnLst/>
            <a:rect l="l" t="t" r="r" b="b"/>
            <a:pathLst>
              <a:path w="1422400" h="406400">
                <a:moveTo>
                  <a:pt x="1333500" y="0"/>
                </a:moveTo>
                <a:arcTo hR="88900" wR="88900" stAng="16200000" swAng="5400000"/>
                <a:lnTo>
                  <a:pt x="1422400" y="317500"/>
                </a:lnTo>
                <a:arcTo hR="88900" wR="88900" stAng="0" swAng="5400000"/>
                <a:lnTo>
                  <a:pt x="0" y="406400"/>
                </a:lnTo>
                <a:lnTo>
                  <a:pt x="0" y="0"/>
                </a:lnTo>
                <a:close/>
              </a:path>
            </a:pathLst>
          </a:custGeom>
          <a:solidFill>
            <a:srgbClr val="FBE3D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B03A0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</a:t>
            </a:r>
            <a:endParaRPr lang="en-US" sz="1600" dirty="0"/>
          </a:p>
        </p:txBody>
      </p:sp>
      <p:sp>
        <p:nvSpPr>
          <p:cNvPr id="30" name="Text 24"/>
          <p:cNvSpPr/>
          <p:nvPr/>
        </p:nvSpPr>
        <p:spPr>
          <a:xfrm>
            <a:off x="7823200" y="3545483"/>
            <a:ext cx="366268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 — суждение, P — восприятие · связь средняя, r = 0,49</a:t>
            </a:r>
            <a:endParaRPr lang="en-US" sz="1200" dirty="0"/>
          </a:p>
        </p:txBody>
      </p:sp>
      <p:sp>
        <p:nvSpPr>
          <p:cNvPr id="31" name="Text 25"/>
          <p:cNvSpPr/>
          <p:nvPr/>
        </p:nvSpPr>
        <p:spPr>
          <a:xfrm>
            <a:off x="812800" y="4048323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Порог — 0,5. В пределах ±0,15 от порога полюс не определён, и в типе ставится «X». Эмоциональная стабильность в тип не входит и описана в характеристике.</a:t>
            </a:r>
            <a:endParaRPr lang="en-US" sz="1200" dirty="0"/>
          </a:p>
        </p:txBody>
      </p:sp>
      <p:sp>
        <p:nvSpPr>
          <p:cNvPr id="32" name="Text 26"/>
          <p:cNvSpPr/>
          <p:nvPr/>
        </p:nvSpPr>
        <p:spPr>
          <a:xfrm>
            <a:off x="812800" y="4601964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16202E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Что получает пользователь</a:t>
            </a:r>
            <a:endParaRPr lang="en-US" sz="1400" dirty="0"/>
          </a:p>
        </p:txBody>
      </p:sp>
      <p:sp>
        <p:nvSpPr>
          <p:cNvPr id="33" name="Text 27"/>
          <p:cNvSpPr/>
          <p:nvPr/>
        </p:nvSpPr>
        <p:spPr>
          <a:xfrm>
            <a:off x="812800" y="4954984"/>
            <a:ext cx="81253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620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Страница:</a:t>
            </a:r>
            <a:endParaRPr lang="en-US" sz="1200" dirty="0"/>
          </a:p>
        </p:txBody>
      </p:sp>
      <p:sp>
        <p:nvSpPr>
          <p:cNvPr id="34" name="Text 28"/>
          <p:cNvSpPr/>
          <p:nvPr/>
        </p:nvSpPr>
        <p:spPr>
          <a:xfrm>
            <a:off x="1657085" y="4897834"/>
            <a:ext cx="684213" cy="327620"/>
          </a:xfrm>
          <a:prstGeom prst="roundRect">
            <a:avLst>
              <a:gd name="adj" fmla="val 50000"/>
            </a:avLst>
          </a:prstGeom>
          <a:solidFill>
            <a:srgbClr val="FDFCF9"/>
          </a:solidFill>
          <a:ln w="12700">
            <a:solidFill>
              <a:srgbClr val="D6DAE0"/>
            </a:solidFill>
            <a:prstDash val="solid"/>
          </a:ln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620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Обзор</a:t>
            </a:r>
            <a:endParaRPr lang="en-US" sz="1200" dirty="0"/>
          </a:p>
        </p:txBody>
      </p:sp>
      <p:sp>
        <p:nvSpPr>
          <p:cNvPr id="35" name="Text 29"/>
          <p:cNvSpPr/>
          <p:nvPr/>
        </p:nvSpPr>
        <p:spPr>
          <a:xfrm>
            <a:off x="2430198" y="4897834"/>
            <a:ext cx="901105" cy="327620"/>
          </a:xfrm>
          <a:prstGeom prst="roundRect">
            <a:avLst>
              <a:gd name="adj" fmla="val 50000"/>
            </a:avLst>
          </a:prstGeom>
          <a:solidFill>
            <a:srgbClr val="FDFCF9"/>
          </a:solidFill>
          <a:ln w="12700">
            <a:solidFill>
              <a:srgbClr val="D6DAE0"/>
            </a:solidFill>
            <a:prstDash val="solid"/>
          </a:ln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620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Тип MBTI</a:t>
            </a:r>
            <a:endParaRPr lang="en-US" sz="1200" dirty="0"/>
          </a:p>
        </p:txBody>
      </p:sp>
      <p:sp>
        <p:nvSpPr>
          <p:cNvPr id="36" name="Text 30"/>
          <p:cNvSpPr/>
          <p:nvPr/>
        </p:nvSpPr>
        <p:spPr>
          <a:xfrm>
            <a:off x="3420203" y="4897834"/>
            <a:ext cx="941586" cy="327620"/>
          </a:xfrm>
          <a:prstGeom prst="roundRect">
            <a:avLst>
              <a:gd name="adj" fmla="val 50000"/>
            </a:avLst>
          </a:prstGeom>
          <a:solidFill>
            <a:srgbClr val="FDFCF9"/>
          </a:solidFill>
          <a:ln w="12700">
            <a:solidFill>
              <a:srgbClr val="D6DAE0"/>
            </a:solidFill>
            <a:prstDash val="solid"/>
          </a:ln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620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Таймлайн</a:t>
            </a:r>
            <a:endParaRPr lang="en-US" sz="1200" dirty="0"/>
          </a:p>
        </p:txBody>
      </p:sp>
      <p:sp>
        <p:nvSpPr>
          <p:cNvPr id="37" name="Text 31"/>
          <p:cNvSpPr/>
          <p:nvPr/>
        </p:nvSpPr>
        <p:spPr>
          <a:xfrm>
            <a:off x="4450689" y="4897834"/>
            <a:ext cx="1357379" cy="327620"/>
          </a:xfrm>
          <a:prstGeom prst="roundRect">
            <a:avLst>
              <a:gd name="adj" fmla="val 50000"/>
            </a:avLst>
          </a:prstGeom>
          <a:solidFill>
            <a:srgbClr val="FDFCF9"/>
          </a:solidFill>
          <a:ln w="12700">
            <a:solidFill>
              <a:srgbClr val="D6DAE0"/>
            </a:solidFill>
            <a:prstDash val="solid"/>
          </a:ln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620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Эмоции и голос</a:t>
            </a:r>
            <a:endParaRPr lang="en-US" sz="1200" dirty="0"/>
          </a:p>
        </p:txBody>
      </p:sp>
      <p:sp>
        <p:nvSpPr>
          <p:cNvPr id="38" name="Text 32"/>
          <p:cNvSpPr/>
          <p:nvPr/>
        </p:nvSpPr>
        <p:spPr>
          <a:xfrm>
            <a:off x="5896967" y="4897834"/>
            <a:ext cx="575535" cy="327620"/>
          </a:xfrm>
          <a:prstGeom prst="roundRect">
            <a:avLst>
              <a:gd name="adj" fmla="val 50000"/>
            </a:avLst>
          </a:prstGeom>
          <a:solidFill>
            <a:srgbClr val="FDFCF9"/>
          </a:solidFill>
          <a:ln w="12700">
            <a:solidFill>
              <a:srgbClr val="D6DAE0"/>
            </a:solidFill>
            <a:prstDash val="solid"/>
          </a:ln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620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Речь</a:t>
            </a:r>
            <a:endParaRPr lang="en-US" sz="1200" dirty="0"/>
          </a:p>
        </p:txBody>
      </p:sp>
      <p:sp>
        <p:nvSpPr>
          <p:cNvPr id="39" name="Text 33"/>
          <p:cNvSpPr/>
          <p:nvPr/>
        </p:nvSpPr>
        <p:spPr>
          <a:xfrm>
            <a:off x="6561403" y="4897834"/>
            <a:ext cx="1432520" cy="327620"/>
          </a:xfrm>
          <a:prstGeom prst="roundRect">
            <a:avLst>
              <a:gd name="adj" fmla="val 50000"/>
            </a:avLst>
          </a:prstGeom>
          <a:solidFill>
            <a:srgbClr val="FDFCF9"/>
          </a:solidFill>
          <a:ln w="12700">
            <a:solidFill>
              <a:srgbClr val="D6DAE0"/>
            </a:solidFill>
            <a:prstDash val="solid"/>
          </a:ln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620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Мимика и кадры</a:t>
            </a:r>
            <a:endParaRPr lang="en-US" sz="1200" dirty="0"/>
          </a:p>
        </p:txBody>
      </p:sp>
      <p:sp>
        <p:nvSpPr>
          <p:cNvPr id="40" name="Text 34"/>
          <p:cNvSpPr/>
          <p:nvPr/>
        </p:nvSpPr>
        <p:spPr>
          <a:xfrm>
            <a:off x="8082823" y="4897834"/>
            <a:ext cx="1115351" cy="327620"/>
          </a:xfrm>
          <a:prstGeom prst="roundRect">
            <a:avLst>
              <a:gd name="adj" fmla="val 50000"/>
            </a:avLst>
          </a:prstGeom>
          <a:solidFill>
            <a:srgbClr val="FDFCF9"/>
          </a:solidFill>
          <a:ln w="12700">
            <a:solidFill>
              <a:srgbClr val="D6DAE0"/>
            </a:solidFill>
            <a:prstDash val="solid"/>
          </a:ln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620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Объяснения</a:t>
            </a:r>
            <a:endParaRPr lang="en-US" sz="1200" dirty="0"/>
          </a:p>
        </p:txBody>
      </p:sp>
      <p:sp>
        <p:nvSpPr>
          <p:cNvPr id="41" name="Text 35"/>
          <p:cNvSpPr/>
          <p:nvPr/>
        </p:nvSpPr>
        <p:spPr>
          <a:xfrm>
            <a:off x="9287073" y="4897834"/>
            <a:ext cx="805855" cy="327620"/>
          </a:xfrm>
          <a:prstGeom prst="roundRect">
            <a:avLst>
              <a:gd name="adj" fmla="val 50000"/>
            </a:avLst>
          </a:prstGeom>
          <a:solidFill>
            <a:srgbClr val="FDFCF9"/>
          </a:solidFill>
          <a:ln w="12700">
            <a:solidFill>
              <a:srgbClr val="D6DAE0"/>
            </a:solidFill>
            <a:prstDash val="solid"/>
          </a:ln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620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Данные</a:t>
            </a:r>
            <a:endParaRPr lang="en-US" sz="1200" dirty="0"/>
          </a:p>
        </p:txBody>
      </p:sp>
      <p:sp>
        <p:nvSpPr>
          <p:cNvPr id="42" name="Text 36"/>
          <p:cNvSpPr/>
          <p:nvPr/>
        </p:nvSpPr>
        <p:spPr>
          <a:xfrm>
            <a:off x="812800" y="5371505"/>
            <a:ext cx="6223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620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Файлы:</a:t>
            </a:r>
            <a:endParaRPr lang="en-US" sz="1200" dirty="0"/>
          </a:p>
        </p:txBody>
      </p:sp>
      <p:sp>
        <p:nvSpPr>
          <p:cNvPr id="43" name="Text 37"/>
          <p:cNvSpPr/>
          <p:nvPr/>
        </p:nvSpPr>
        <p:spPr>
          <a:xfrm>
            <a:off x="1466850" y="5314355"/>
            <a:ext cx="1921867" cy="327620"/>
          </a:xfrm>
          <a:prstGeom prst="roundRect">
            <a:avLst>
              <a:gd name="adj" fmla="val 50000"/>
            </a:avLst>
          </a:prstGeom>
          <a:solidFill>
            <a:srgbClr val="FBE3D4"/>
          </a:solidFill>
          <a:ln w="12700">
            <a:solidFill>
              <a:srgbClr val="C2410C"/>
            </a:solidFill>
            <a:prstDash val="solid"/>
          </a:ln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620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PDF-отчёт с графиками</a:t>
            </a:r>
            <a:endParaRPr lang="en-US" sz="1200" dirty="0"/>
          </a:p>
        </p:txBody>
      </p:sp>
      <p:sp>
        <p:nvSpPr>
          <p:cNvPr id="44" name="Text 38"/>
          <p:cNvSpPr/>
          <p:nvPr/>
        </p:nvSpPr>
        <p:spPr>
          <a:xfrm>
            <a:off x="3477617" y="5314355"/>
            <a:ext cx="1767020" cy="327620"/>
          </a:xfrm>
          <a:prstGeom prst="roundRect">
            <a:avLst>
              <a:gd name="adj" fmla="val 50000"/>
            </a:avLst>
          </a:prstGeom>
          <a:solidFill>
            <a:srgbClr val="FBE3D4"/>
          </a:solidFill>
          <a:ln w="12700">
            <a:solidFill>
              <a:srgbClr val="C2410C"/>
            </a:solidFill>
            <a:prstDash val="solid"/>
          </a:ln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620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result.json с данными</a:t>
            </a:r>
            <a:endParaRPr lang="en-US" sz="1200" dirty="0"/>
          </a:p>
        </p:txBody>
      </p:sp>
      <p:sp>
        <p:nvSpPr>
          <p:cNvPr id="45" name="Text 39"/>
          <p:cNvSpPr/>
          <p:nvPr/>
        </p:nvSpPr>
        <p:spPr>
          <a:xfrm>
            <a:off x="5333537" y="5314355"/>
            <a:ext cx="2810338" cy="327620"/>
          </a:xfrm>
          <a:prstGeom prst="roundRect">
            <a:avLst>
              <a:gd name="adj" fmla="val 50000"/>
            </a:avLst>
          </a:prstGeom>
          <a:solidFill>
            <a:srgbClr val="FBE3D4"/>
          </a:solidFill>
          <a:ln w="12700">
            <a:solidFill>
              <a:srgbClr val="C2410C"/>
            </a:solidFill>
            <a:prstDash val="solid"/>
          </a:ln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6202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журнал: кто, когда, какой результат</a:t>
            </a:r>
            <a:endParaRPr lang="en-US" sz="1200" dirty="0"/>
          </a:p>
        </p:txBody>
      </p:sp>
      <p:sp>
        <p:nvSpPr>
          <p:cNvPr id="46" name="Text 40"/>
          <p:cNvSpPr/>
          <p:nvPr/>
        </p:nvSpPr>
        <p:spPr>
          <a:xfrm>
            <a:off x="812800" y="6238280"/>
            <a:ext cx="85026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BS Profiler 3.1 · анализ человека по видео · © 2026 AMLAI</a:t>
            </a:r>
            <a:endParaRPr lang="en-US" sz="1200" dirty="0"/>
          </a:p>
        </p:txBody>
      </p:sp>
      <p:sp>
        <p:nvSpPr>
          <p:cNvPr id="47" name="Text 41"/>
          <p:cNvSpPr/>
          <p:nvPr/>
        </p:nvSpPr>
        <p:spPr>
          <a:xfrm>
            <a:off x="10566400" y="6238280"/>
            <a:ext cx="812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EF1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C2410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ИНТЕРФЕЙС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78520"/>
            <a:ext cx="10883392" cy="492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680"/>
              </a:lnSpc>
              <a:buNone/>
            </a:pPr>
            <a:r>
              <a:rPr lang="en-US" sz="3200" b="1" dirty="0">
                <a:solidFill>
                  <a:srgbClr val="16202E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Тип MBTI и объяснения на странице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798241"/>
            <a:ext cx="6096000" cy="3657600"/>
          </a:xfrm>
          <a:prstGeom prst="roundRect">
            <a:avLst>
              <a:gd name="adj" fmla="val 2083"/>
            </a:avLst>
          </a:prstGeom>
          <a:solidFill>
            <a:srgbClr val="FFFFFF"/>
          </a:solidFill>
          <a:ln/>
        </p:spPr>
      </p:sp>
      <p:pic>
        <p:nvPicPr>
          <p:cNvPr id="5" name="Image 0" descr="Вкладка «Тип MBTI»: положение оценки на четырёх осях с пограничной зоной, нейротизм отдельной шкалой и ниже — буквы типа по каждому отрезку ролика">    </p:cNvPr>
          <p:cNvPicPr>
            <a:picLocks noChangeAspect="1"/>
          </p:cNvPicPr>
          <p:nvPr/>
        </p:nvPicPr>
        <p:blipFill>
          <a:blip r:embed="rId1"/>
          <a:srcRect l="-102" r="-102" t="0" b="0"/>
          <a:stretch/>
        </p:blipFill>
        <p:spPr>
          <a:xfrm>
            <a:off x="825500" y="1810941"/>
            <a:ext cx="6070600" cy="3632200"/>
          </a:xfrm>
          <a:prstGeom prst="roundRect">
            <a:avLst>
              <a:gd name="adj" fmla="val 1748"/>
            </a:avLst>
          </a:prstGeom>
        </p:spPr>
      </p:pic>
      <p:sp>
        <p:nvSpPr>
          <p:cNvPr id="6" name="Shape 3"/>
          <p:cNvSpPr/>
          <p:nvPr/>
        </p:nvSpPr>
        <p:spPr>
          <a:xfrm>
            <a:off x="819150" y="1804591"/>
            <a:ext cx="6083300" cy="3644900"/>
          </a:xfrm>
          <a:prstGeom prst="roundRect">
            <a:avLst>
              <a:gd name="adj" fmla="val 1916"/>
            </a:avLst>
          </a:prstGeom>
          <a:noFill/>
          <a:ln w="12700">
            <a:solidFill>
              <a:srgbClr val="C9CFD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213600" y="1798241"/>
            <a:ext cx="4165600" cy="2457450"/>
          </a:xfrm>
          <a:prstGeom prst="roundRect">
            <a:avLst>
              <a:gd name="adj" fmla="val 3101"/>
            </a:avLst>
          </a:prstGeom>
          <a:solidFill>
            <a:srgbClr val="FFFFFF"/>
          </a:solidFill>
          <a:ln/>
        </p:spPr>
      </p:sp>
      <p:pic>
        <p:nvPicPr>
          <p:cNvPr id="8" name="Image 1" descr="Таблица «Вклад модальностей в оценку модели AMLAI 1.0»: для каждой черты доли лица, голоса, речи и описания поведения">    </p:cNvPr>
          <p:cNvPicPr>
            <a:picLocks noChangeAspect="1"/>
          </p:cNvPicPr>
          <p:nvPr/>
        </p:nvPicPr>
        <p:blipFill>
          <a:blip r:embed="rId2"/>
          <a:srcRect l="-171" r="-171" t="0" b="0"/>
          <a:stretch/>
        </p:blipFill>
        <p:spPr>
          <a:xfrm>
            <a:off x="7226300" y="1810941"/>
            <a:ext cx="4140200" cy="2432050"/>
          </a:xfrm>
          <a:prstGeom prst="roundRect">
            <a:avLst>
              <a:gd name="adj" fmla="val 2611"/>
            </a:avLst>
          </a:prstGeom>
        </p:spPr>
      </p:pic>
      <p:sp>
        <p:nvSpPr>
          <p:cNvPr id="9" name="Shape 5"/>
          <p:cNvSpPr/>
          <p:nvPr/>
        </p:nvSpPr>
        <p:spPr>
          <a:xfrm>
            <a:off x="7219950" y="1804591"/>
            <a:ext cx="4152900" cy="2444750"/>
          </a:xfrm>
          <a:prstGeom prst="roundRect">
            <a:avLst>
              <a:gd name="adj" fmla="val 2857"/>
            </a:avLst>
          </a:prstGeom>
          <a:noFill/>
          <a:ln w="12700">
            <a:solidFill>
              <a:srgbClr val="C9CFD6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213600" y="4382691"/>
            <a:ext cx="4290568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Тип MBTI:</a:t>
            </a: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положение на каждой оси, пограничные оси и тип по каждому отрезку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7213600" y="4936331"/>
            <a:ext cx="4290568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Объяснения</a:t>
            </a: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(AMLAI 1.0): доля лица, голоса, речи и поведения в оценке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812800" y="6238280"/>
            <a:ext cx="85026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BS Profiler 3.1 · анализ человека по видео · © 2026 AMLAI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10566400" y="6238280"/>
            <a:ext cx="812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F1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C2410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ТЕХНОЛОГИИ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78520"/>
            <a:ext cx="10883392" cy="492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680"/>
              </a:lnSpc>
              <a:buNone/>
            </a:pPr>
            <a:r>
              <a:rPr lang="en-US" sz="3200" b="1" dirty="0">
                <a:solidFill>
                  <a:srgbClr val="16202E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Стек и подходы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12800" y="1798241"/>
            <a:ext cx="65405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16202E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Стек, от интерфейса к железу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19150" y="2094111"/>
            <a:ext cx="6337300" cy="591741"/>
          </a:xfrm>
          <a:prstGeom prst="roundRect">
            <a:avLst>
              <a:gd name="adj" fmla="val 16097"/>
            </a:avLst>
          </a:prstGeom>
          <a:solidFill>
            <a:srgbClr val="FBFBFA"/>
          </a:solidFill>
          <a:ln w="12700">
            <a:solidFill>
              <a:srgbClr val="C9CF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77900" y="2265496"/>
            <a:ext cx="1574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C2410C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Интерфейс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654300" y="2176661"/>
            <a:ext cx="447370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F4A5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Gradio 5.8 · графики Plotly · PDF: fpdf2 и matplotlib · Caddy: HTTPS и пароль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19150" y="2774752"/>
            <a:ext cx="6337300" cy="591741"/>
          </a:xfrm>
          <a:prstGeom prst="roundRect">
            <a:avLst>
              <a:gd name="adj" fmla="val 16097"/>
            </a:avLst>
          </a:prstGeom>
          <a:solidFill>
            <a:srgbClr val="FBFBFA"/>
          </a:solidFill>
          <a:ln w="12700">
            <a:solidFill>
              <a:srgbClr val="C9CFD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77900" y="2946136"/>
            <a:ext cx="1574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C2410C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Интерпретация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654300" y="2857302"/>
            <a:ext cx="447370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F4A5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MBTI по формуле заказчика · характеристика по шаблонам и словарю · ключевые факты и оговорки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19150" y="3455392"/>
            <a:ext cx="6337300" cy="805061"/>
          </a:xfrm>
          <a:prstGeom prst="roundRect">
            <a:avLst>
              <a:gd name="adj" fmla="val 11831"/>
            </a:avLst>
          </a:prstGeom>
          <a:solidFill>
            <a:srgbClr val="DDE6FA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7900" y="3733471"/>
            <a:ext cx="1574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1D4ED8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Модели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654300" y="3537942"/>
            <a:ext cx="4473702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F4A5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AMLAI 1.0 (наша) · OCEAN-AI (веса MuPTA) · CLIP · CLAP · EmoRoBERTa · wav2vec2 (голос) · ViT (мимика) · Whisper · Qwen2.5-VL через Ollama · Marian (перевод)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9150" y="4349353"/>
            <a:ext cx="6337300" cy="414007"/>
          </a:xfrm>
          <a:prstGeom prst="roundRect">
            <a:avLst>
              <a:gd name="adj" fmla="val 23007"/>
            </a:avLst>
          </a:prstGeom>
          <a:solidFill>
            <a:srgbClr val="FBFBFA"/>
          </a:solidFill>
          <a:ln w="12700">
            <a:solidFill>
              <a:srgbClr val="C9CFD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77900" y="4431903"/>
            <a:ext cx="1574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C2410C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Медиа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654300" y="4449700"/>
            <a:ext cx="447370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F4A5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ffmpeg и ffprobe · OpenCV · MediaPipe (поиск лица)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19150" y="4852262"/>
            <a:ext cx="6337300" cy="591741"/>
          </a:xfrm>
          <a:prstGeom prst="roundRect">
            <a:avLst>
              <a:gd name="adj" fmla="val 16097"/>
            </a:avLst>
          </a:prstGeom>
          <a:solidFill>
            <a:srgbClr val="FBFBFA"/>
          </a:solidFill>
          <a:ln w="12700">
            <a:solidFill>
              <a:srgbClr val="C9CFD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77900" y="5023644"/>
            <a:ext cx="1574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C2410C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Платформа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654300" y="4934812"/>
            <a:ext cx="447370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F4A5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Python 3.12 · PyTorch и CUDA 13 · WSL2, Ubuntu 24.04 · одна RTX 5090, 24 ГБ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569200" y="1798241"/>
            <a:ext cx="39243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16202E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Подходы</a:t>
            </a:r>
            <a:endParaRPr lang="en-US" sz="1400" dirty="0"/>
          </a:p>
        </p:txBody>
      </p:sp>
      <p:pic>
        <p:nvPicPr>
          <p:cNvPr id="21" name="Image 0" descr="Users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569200" y="2138561"/>
            <a:ext cx="228600" cy="228600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7899400" y="2138561"/>
            <a:ext cx="3584194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3F4A5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Мультимодальность:</a:t>
            </a:r>
            <a:r>
              <a:rPr lang="en-US" sz="1200" dirty="0">
                <a:solidFill>
                  <a:srgbClr val="3F4A5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лицо, голос, речь и поведение в одной модели</a:t>
            </a:r>
            <a:endParaRPr lang="en-US" sz="1200" dirty="0"/>
          </a:p>
        </p:txBody>
      </p:sp>
      <p:pic>
        <p:nvPicPr>
          <p:cNvPr id="23" name="Image 1" descr="Clock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569200" y="2692202"/>
            <a:ext cx="228600" cy="228600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7899400" y="2692202"/>
            <a:ext cx="3584194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3F4A5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Линия времени:</a:t>
            </a:r>
            <a:r>
              <a:rPr lang="en-US" sz="1200" dirty="0">
                <a:solidFill>
                  <a:srgbClr val="3F4A5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отрезки по 20 с показывают, как меняется человек</a:t>
            </a:r>
            <a:endParaRPr lang="en-US" sz="1200" dirty="0"/>
          </a:p>
        </p:txBody>
      </p:sp>
      <p:pic>
        <p:nvPicPr>
          <p:cNvPr id="25" name="Image 2" descr="Star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569200" y="3245842"/>
            <a:ext cx="228600" cy="228600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7899400" y="3245842"/>
            <a:ext cx="3584194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3F4A5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Ансамбль:</a:t>
            </a:r>
            <a:r>
              <a:rPr lang="en-US" sz="1200" dirty="0">
                <a:solidFill>
                  <a:srgbClr val="3F4A5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пять обученных копий модели, оценки усредняются</a:t>
            </a:r>
            <a:endParaRPr lang="en-US" sz="1200" dirty="0"/>
          </a:p>
        </p:txBody>
      </p:sp>
      <p:pic>
        <p:nvPicPr>
          <p:cNvPr id="27" name="Image 3" descr="Search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569200" y="3799483"/>
            <a:ext cx="228600" cy="228600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7899400" y="3799483"/>
            <a:ext cx="3584194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3F4A5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Объяснимость:</a:t>
            </a:r>
            <a:r>
              <a:rPr lang="en-US" sz="1200" dirty="0">
                <a:solidFill>
                  <a:srgbClr val="3F4A5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вклад модальностей, ключевые кадры, важные слова</a:t>
            </a:r>
            <a:endParaRPr lang="en-US" sz="1200" dirty="0"/>
          </a:p>
        </p:txBody>
      </p:sp>
      <p:pic>
        <p:nvPicPr>
          <p:cNvPr id="29" name="Image 4" descr="Book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7569200" y="4353123"/>
            <a:ext cx="228600" cy="228600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7899400" y="4353123"/>
            <a:ext cx="3584194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3F4A5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Предсказуемые тексты:</a:t>
            </a:r>
            <a:r>
              <a:rPr lang="en-US" sz="1200" dirty="0">
                <a:solidFill>
                  <a:srgbClr val="3F4A5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характеристика строится по шаблонам</a:t>
            </a:r>
            <a:endParaRPr lang="en-US" sz="1200" dirty="0"/>
          </a:p>
        </p:txBody>
      </p:sp>
      <p:pic>
        <p:nvPicPr>
          <p:cNvPr id="31" name="Image 5" descr="Lock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7569200" y="4906764"/>
            <a:ext cx="228600" cy="228600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7899400" y="4906764"/>
            <a:ext cx="3584194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3F4A5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Локально:</a:t>
            </a:r>
            <a:r>
              <a:rPr lang="en-US" sz="1200" dirty="0">
                <a:solidFill>
                  <a:srgbClr val="3F4A5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данные не покидают компьютер, наружу — только страница</a:t>
            </a:r>
            <a:endParaRPr lang="en-US" sz="1200" dirty="0"/>
          </a:p>
        </p:txBody>
      </p:sp>
      <p:sp>
        <p:nvSpPr>
          <p:cNvPr id="33" name="Text 25"/>
          <p:cNvSpPr/>
          <p:nvPr/>
        </p:nvSpPr>
        <p:spPr>
          <a:xfrm>
            <a:off x="812800" y="6238280"/>
            <a:ext cx="85026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BS Profiler 3.1 · анализ человека по видео · © 2026 AMLAI</a:t>
            </a:r>
            <a:endParaRPr lang="en-US" sz="1200" dirty="0"/>
          </a:p>
        </p:txBody>
      </p:sp>
      <p:sp>
        <p:nvSpPr>
          <p:cNvPr id="34" name="Text 26"/>
          <p:cNvSpPr/>
          <p:nvPr/>
        </p:nvSpPr>
        <p:spPr>
          <a:xfrm>
            <a:off x="10566400" y="6238280"/>
            <a:ext cx="812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C2410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ЧТО НУЖНО ДЛЯ РАЗВИТИЯ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78520"/>
            <a:ext cx="10883392" cy="492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680"/>
              </a:lnSpc>
              <a:buNone/>
            </a:pPr>
            <a:r>
              <a:rPr lang="en-US" sz="3200" b="1" dirty="0">
                <a:solidFill>
                  <a:srgbClr val="16202E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Главное — свой размеченный датасет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9150" y="1804591"/>
            <a:ext cx="2019300" cy="2273300"/>
          </a:xfrm>
          <a:prstGeom prst="roundRect">
            <a:avLst>
              <a:gd name="adj" fmla="val 5975"/>
            </a:avLst>
          </a:prstGeom>
          <a:solidFill>
            <a:srgbClr val="FDFCF9"/>
          </a:solidFill>
          <a:ln w="12700">
            <a:solidFill>
              <a:srgbClr val="D6DAE0"/>
            </a:solidFill>
            <a:prstDash val="solid"/>
          </a:ln>
        </p:spPr>
      </p:sp>
      <p:pic>
        <p:nvPicPr>
          <p:cNvPr id="5" name="Image 0" descr="Play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65200" y="1950641"/>
            <a:ext cx="228600" cy="228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70000" y="1958249"/>
            <a:ext cx="72436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16202E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Съёмка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965200" y="2255441"/>
            <a:ext cx="1779016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F4A5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300–400+ роликов, лучше больше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965200" y="2758281"/>
            <a:ext cx="1779016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F4A5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до 10 минут, русская речь, лицо крупно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965200" y="3261122"/>
            <a:ext cx="177901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F4A5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согласие участника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327400" y="1804591"/>
            <a:ext cx="2781300" cy="1028700"/>
          </a:xfrm>
          <a:prstGeom prst="roundRect">
            <a:avLst>
              <a:gd name="adj" fmla="val 11728"/>
            </a:avLst>
          </a:prstGeom>
          <a:solidFill>
            <a:srgbClr val="FBE3D4"/>
          </a:solidFill>
          <a:ln w="12700">
            <a:solidFill>
              <a:srgbClr val="C2410C"/>
            </a:solidFill>
            <a:prstDash val="solid"/>
          </a:ln>
        </p:spPr>
      </p:sp>
      <p:pic>
        <p:nvPicPr>
          <p:cNvPr id="11" name="Image 1" descr="Check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473450" y="1937941"/>
            <a:ext cx="228600" cy="2286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778250" y="1945549"/>
            <a:ext cx="115576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16202E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Самооценка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3473450" y="2230041"/>
            <a:ext cx="2563876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F4A5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человек сам заполняет опросник по инструкции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3327400" y="3049191"/>
            <a:ext cx="2781300" cy="1028700"/>
          </a:xfrm>
          <a:prstGeom prst="roundRect">
            <a:avLst>
              <a:gd name="adj" fmla="val 11728"/>
            </a:avLst>
          </a:prstGeom>
          <a:solidFill>
            <a:srgbClr val="FBE3D4"/>
          </a:solidFill>
          <a:ln w="12700">
            <a:solidFill>
              <a:srgbClr val="C2410C"/>
            </a:solidFill>
            <a:prstDash val="solid"/>
          </a:ln>
        </p:spPr>
      </p:sp>
      <p:pic>
        <p:nvPicPr>
          <p:cNvPr id="15" name="Image 2" descr="Users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473450" y="3182541"/>
            <a:ext cx="228600" cy="22860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3778250" y="3190149"/>
            <a:ext cx="209718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16202E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Оценки наблюдателей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3473450" y="3474641"/>
            <a:ext cx="2563876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F4A5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незнакомые люди сравнивают ролики попарно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6597650" y="1804591"/>
            <a:ext cx="2019300" cy="2273300"/>
          </a:xfrm>
          <a:prstGeom prst="roundRect">
            <a:avLst>
              <a:gd name="adj" fmla="val 5975"/>
            </a:avLst>
          </a:prstGeom>
          <a:solidFill>
            <a:srgbClr val="FDFCF9"/>
          </a:solidFill>
          <a:ln w="12700">
            <a:solidFill>
              <a:srgbClr val="D6DAE0"/>
            </a:solidFill>
            <a:prstDash val="solid"/>
          </a:ln>
        </p:spPr>
      </p:sp>
      <p:pic>
        <p:nvPicPr>
          <p:cNvPr id="19" name="Image 3" descr="Database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743700" y="1950641"/>
            <a:ext cx="228600" cy="22860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7048500" y="1958249"/>
            <a:ext cx="79156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16202E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Датасет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6743700" y="2255441"/>
            <a:ext cx="1779016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F4A5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ролик, самооценка и оценки со стороны по пяти чертам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9099550" y="1804591"/>
            <a:ext cx="2273300" cy="2273300"/>
          </a:xfrm>
          <a:prstGeom prst="roundRect">
            <a:avLst>
              <a:gd name="adj" fmla="val 5307"/>
            </a:avLst>
          </a:prstGeom>
          <a:solidFill>
            <a:srgbClr val="16202E"/>
          </a:solidFill>
          <a:ln w="12700">
            <a:solidFill>
              <a:srgbClr val="16202E"/>
            </a:solidFill>
            <a:prstDash val="solid"/>
          </a:ln>
        </p:spPr>
      </p:sp>
      <p:pic>
        <p:nvPicPr>
          <p:cNvPr id="23" name="Image 4" descr="Lightbulb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9245600" y="1950641"/>
            <a:ext cx="228600" cy="228600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9550400" y="1958249"/>
            <a:ext cx="117719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F2F0EA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Что это даст</a:t>
            </a:r>
            <a:endParaRPr lang="en-US" sz="1400" dirty="0"/>
          </a:p>
        </p:txBody>
      </p:sp>
      <p:sp>
        <p:nvSpPr>
          <p:cNvPr id="25" name="Text 18"/>
          <p:cNvSpPr/>
          <p:nvPr/>
        </p:nvSpPr>
        <p:spPr>
          <a:xfrm>
            <a:off x="9245600" y="2255441"/>
            <a:ext cx="2040636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C9D1D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измеренная точность на русской речи</a:t>
            </a:r>
            <a:endParaRPr lang="en-US" sz="1200" dirty="0"/>
          </a:p>
        </p:txBody>
      </p:sp>
      <p:sp>
        <p:nvSpPr>
          <p:cNvPr id="26" name="Text 19"/>
          <p:cNvSpPr/>
          <p:nvPr/>
        </p:nvSpPr>
        <p:spPr>
          <a:xfrm>
            <a:off x="9245600" y="2758281"/>
            <a:ext cx="2040636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C9D1D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шкала, откалиброванная под людей</a:t>
            </a:r>
            <a:endParaRPr lang="en-US" sz="1200" dirty="0"/>
          </a:p>
        </p:txBody>
      </p:sp>
      <p:sp>
        <p:nvSpPr>
          <p:cNvPr id="27" name="Text 20"/>
          <p:cNvSpPr/>
          <p:nvPr/>
        </p:nvSpPr>
        <p:spPr>
          <a:xfrm>
            <a:off x="9245600" y="3261122"/>
            <a:ext cx="2040636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C9D1D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модель, дообученная на своих данных</a:t>
            </a:r>
            <a:endParaRPr lang="en-US" sz="1200" dirty="0"/>
          </a:p>
        </p:txBody>
      </p:sp>
      <p:pic>
        <p:nvPicPr>
          <p:cNvPr id="28" name="Image 5" descr="connector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2794000" y="2890441"/>
            <a:ext cx="342900" cy="101600"/>
          </a:xfrm>
          <a:prstGeom prst="rect">
            <a:avLst/>
          </a:prstGeom>
        </p:spPr>
      </p:pic>
      <p:pic>
        <p:nvPicPr>
          <p:cNvPr id="29" name="Image 6" descr="connector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3035300" y="2268141"/>
            <a:ext cx="101600" cy="1346200"/>
          </a:xfrm>
          <a:prstGeom prst="rect">
            <a:avLst/>
          </a:prstGeom>
        </p:spPr>
      </p:pic>
      <p:pic>
        <p:nvPicPr>
          <p:cNvPr id="30" name="Image 7" descr="connector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3035300" y="2268141"/>
            <a:ext cx="336550" cy="101600"/>
          </a:xfrm>
          <a:prstGeom prst="rect">
            <a:avLst/>
          </a:prstGeom>
        </p:spPr>
      </p:pic>
      <p:pic>
        <p:nvPicPr>
          <p:cNvPr id="31" name="Image 8" descr="connector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3035300" y="3512741"/>
            <a:ext cx="336550" cy="101600"/>
          </a:xfrm>
          <a:prstGeom prst="rect">
            <a:avLst/>
          </a:prstGeom>
        </p:spPr>
      </p:pic>
      <p:pic>
        <p:nvPicPr>
          <p:cNvPr id="32" name="Image 9" descr="connector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6064250" y="2268141"/>
            <a:ext cx="336550" cy="101600"/>
          </a:xfrm>
          <a:prstGeom prst="rect">
            <a:avLst/>
          </a:prstGeom>
        </p:spPr>
      </p:pic>
      <p:pic>
        <p:nvPicPr>
          <p:cNvPr id="33" name="Image 10" descr="connector">    </p:cNvPr>
          <p:cNvPicPr>
            <a:picLocks noChangeAspect="1"/>
          </p:cNvPicPr>
          <p:nvPr/>
        </p:nvPicPr>
        <p:blipFill>
          <a:blip r:embed="rId11"/>
          <a:srcRect l="0" r="0" t="0" b="0"/>
          <a:stretch/>
        </p:blipFill>
        <p:spPr>
          <a:xfrm>
            <a:off x="6064250" y="3512741"/>
            <a:ext cx="336550" cy="101600"/>
          </a:xfrm>
          <a:prstGeom prst="rect">
            <a:avLst/>
          </a:prstGeom>
        </p:spPr>
      </p:pic>
      <p:pic>
        <p:nvPicPr>
          <p:cNvPr id="34" name="Image 11" descr="connector">    </p:cNvPr>
          <p:cNvPicPr>
            <a:picLocks noChangeAspect="1"/>
          </p:cNvPicPr>
          <p:nvPr/>
        </p:nvPicPr>
        <p:blipFill>
          <a:blip r:embed="rId12"/>
          <a:srcRect l="0" r="0" t="0" b="0"/>
          <a:stretch/>
        </p:blipFill>
        <p:spPr>
          <a:xfrm>
            <a:off x="6299200" y="2268141"/>
            <a:ext cx="101600" cy="1346200"/>
          </a:xfrm>
          <a:prstGeom prst="rect">
            <a:avLst/>
          </a:prstGeom>
        </p:spPr>
      </p:pic>
      <p:pic>
        <p:nvPicPr>
          <p:cNvPr id="35" name="Image 12" descr="connector">    </p:cNvPr>
          <p:cNvPicPr>
            <a:picLocks noChangeAspect="1"/>
          </p:cNvPicPr>
          <p:nvPr/>
        </p:nvPicPr>
        <p:blipFill>
          <a:blip r:embed="rId13"/>
          <a:srcRect l="0" r="0" t="0" b="0"/>
          <a:stretch/>
        </p:blipFill>
        <p:spPr>
          <a:xfrm>
            <a:off x="6299200" y="2890441"/>
            <a:ext cx="342900" cy="101600"/>
          </a:xfrm>
          <a:prstGeom prst="rect">
            <a:avLst/>
          </a:prstGeom>
        </p:spPr>
      </p:pic>
      <p:pic>
        <p:nvPicPr>
          <p:cNvPr id="36" name="Image 13" descr="connector">    </p:cNvPr>
          <p:cNvPicPr>
            <a:picLocks noChangeAspect="1"/>
          </p:cNvPicPr>
          <p:nvPr/>
        </p:nvPicPr>
        <p:blipFill>
          <a:blip r:embed="rId14"/>
          <a:srcRect l="0" r="0" t="0" b="0"/>
          <a:stretch/>
        </p:blipFill>
        <p:spPr>
          <a:xfrm>
            <a:off x="8572500" y="2890441"/>
            <a:ext cx="571500" cy="101600"/>
          </a:xfrm>
          <a:prstGeom prst="rect">
            <a:avLst/>
          </a:prstGeom>
        </p:spPr>
      </p:pic>
      <p:sp>
        <p:nvSpPr>
          <p:cNvPr id="37" name="Shape 21"/>
          <p:cNvSpPr/>
          <p:nvPr/>
        </p:nvSpPr>
        <p:spPr>
          <a:xfrm>
            <a:off x="819150" y="4242991"/>
            <a:ext cx="3407833" cy="1434902"/>
          </a:xfrm>
          <a:prstGeom prst="roundRect">
            <a:avLst>
              <a:gd name="adj" fmla="val 8408"/>
            </a:avLst>
          </a:prstGeom>
          <a:solidFill>
            <a:srgbClr val="FDFCF9"/>
          </a:solidFill>
          <a:ln w="12700">
            <a:solidFill>
              <a:srgbClr val="D6DAE0"/>
            </a:solidFill>
            <a:prstDash val="solid"/>
          </a:ln>
        </p:spPr>
      </p:sp>
      <p:sp>
        <p:nvSpPr>
          <p:cNvPr id="38" name="Text 22"/>
          <p:cNvSpPr/>
          <p:nvPr/>
        </p:nvSpPr>
        <p:spPr>
          <a:xfrm>
            <a:off x="977900" y="4401741"/>
            <a:ext cx="318304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C2410C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Инструкции</a:t>
            </a:r>
            <a:endParaRPr lang="en-US" sz="1400" dirty="0"/>
          </a:p>
        </p:txBody>
      </p:sp>
      <p:sp>
        <p:nvSpPr>
          <p:cNvPr id="39" name="Text 23"/>
          <p:cNvSpPr/>
          <p:nvPr/>
        </p:nvSpPr>
        <p:spPr>
          <a:xfrm>
            <a:off x="977900" y="4665861"/>
            <a:ext cx="3183043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одна короткая инструкция для всех; самооценка — стандартный опросник, например BFI-2; оценки не обсуждаются</a:t>
            </a:r>
            <a:endParaRPr lang="en-US" sz="1200" dirty="0"/>
          </a:p>
        </p:txBody>
      </p:sp>
      <p:sp>
        <p:nvSpPr>
          <p:cNvPr id="40" name="Shape 24"/>
          <p:cNvSpPr/>
          <p:nvPr/>
        </p:nvSpPr>
        <p:spPr>
          <a:xfrm>
            <a:off x="4392083" y="4242991"/>
            <a:ext cx="3407833" cy="1434902"/>
          </a:xfrm>
          <a:prstGeom prst="roundRect">
            <a:avLst>
              <a:gd name="adj" fmla="val 8408"/>
            </a:avLst>
          </a:prstGeom>
          <a:solidFill>
            <a:srgbClr val="FDFCF9"/>
          </a:solidFill>
          <a:ln w="12700">
            <a:solidFill>
              <a:srgbClr val="D6DAE0"/>
            </a:solidFill>
            <a:prstDash val="solid"/>
          </a:ln>
        </p:spPr>
      </p:sp>
      <p:sp>
        <p:nvSpPr>
          <p:cNvPr id="41" name="Text 25"/>
          <p:cNvSpPr/>
          <p:nvPr/>
        </p:nvSpPr>
        <p:spPr>
          <a:xfrm>
            <a:off x="4550833" y="4401741"/>
            <a:ext cx="318304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C2410C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Попарная оценка</a:t>
            </a:r>
            <a:endParaRPr lang="en-US" sz="1400" dirty="0"/>
          </a:p>
        </p:txBody>
      </p:sp>
      <p:sp>
        <p:nvSpPr>
          <p:cNvPr id="42" name="Text 26"/>
          <p:cNvSpPr/>
          <p:nvPr/>
        </p:nvSpPr>
        <p:spPr>
          <a:xfrm>
            <a:off x="4550833" y="4665861"/>
            <a:ext cx="3183043" cy="878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наблюдатель видит два ролика и выбирает, кто из двоих кажется, например, общительнее; из сравнений — оценка 0…1</a:t>
            </a:r>
            <a:endParaRPr lang="en-US" sz="1200" dirty="0"/>
          </a:p>
        </p:txBody>
      </p:sp>
      <p:sp>
        <p:nvSpPr>
          <p:cNvPr id="43" name="Shape 27"/>
          <p:cNvSpPr/>
          <p:nvPr/>
        </p:nvSpPr>
        <p:spPr>
          <a:xfrm>
            <a:off x="7965017" y="4242991"/>
            <a:ext cx="3407833" cy="1434902"/>
          </a:xfrm>
          <a:prstGeom prst="roundRect">
            <a:avLst>
              <a:gd name="adj" fmla="val 8408"/>
            </a:avLst>
          </a:prstGeom>
          <a:solidFill>
            <a:srgbClr val="FDFCF9"/>
          </a:solidFill>
          <a:ln w="12700">
            <a:solidFill>
              <a:srgbClr val="D6DAE0"/>
            </a:solidFill>
            <a:prstDash val="solid"/>
          </a:ln>
        </p:spPr>
      </p:sp>
      <p:sp>
        <p:nvSpPr>
          <p:cNvPr id="44" name="Text 28"/>
          <p:cNvSpPr/>
          <p:nvPr/>
        </p:nvSpPr>
        <p:spPr>
          <a:xfrm>
            <a:off x="8123767" y="4401741"/>
            <a:ext cx="318304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C2410C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Пример: First Impressions V2</a:t>
            </a:r>
            <a:endParaRPr lang="en-US" sz="1400" dirty="0"/>
          </a:p>
        </p:txBody>
      </p:sp>
      <p:sp>
        <p:nvSpPr>
          <p:cNvPr id="45" name="Text 29"/>
          <p:cNvSpPr/>
          <p:nvPr/>
        </p:nvSpPr>
        <p:spPr>
          <a:xfrm>
            <a:off x="8123767" y="4665861"/>
            <a:ext cx="3183043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10 000 роликов по 15 с; наблюдатели Amazon Mechanical Turk сравнивали пары роликов по пяти чертам</a:t>
            </a:r>
            <a:endParaRPr lang="en-US" sz="1200" dirty="0"/>
          </a:p>
        </p:txBody>
      </p:sp>
      <p:sp>
        <p:nvSpPr>
          <p:cNvPr id="46" name="Text 30"/>
          <p:cNvSpPr/>
          <p:nvPr/>
        </p:nvSpPr>
        <p:spPr>
          <a:xfrm>
            <a:off x="812800" y="6238280"/>
            <a:ext cx="85026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BS Profiler 3.1 · анализ человека по видео · © 2026 AMLAI</a:t>
            </a:r>
            <a:endParaRPr lang="en-US" sz="1200" dirty="0"/>
          </a:p>
        </p:txBody>
      </p:sp>
      <p:sp>
        <p:nvSpPr>
          <p:cNvPr id="47" name="Text 31"/>
          <p:cNvSpPr/>
          <p:nvPr/>
        </p:nvSpPr>
        <p:spPr>
          <a:xfrm>
            <a:off x="10566400" y="6238280"/>
            <a:ext cx="812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EF1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60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5"/>
              </a:lnSpc>
              <a:buNone/>
            </a:pPr>
            <a:r>
              <a:rPr lang="en-US" sz="1196" b="1" spc="100" kern="0" dirty="0">
                <a:solidFill>
                  <a:srgbClr val="C2410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ЛИЦЕНЗИИ</a:t>
            </a:r>
            <a:endParaRPr lang="en-US" sz="1196" dirty="0"/>
          </a:p>
        </p:txBody>
      </p:sp>
      <p:sp>
        <p:nvSpPr>
          <p:cNvPr id="3" name="Text 1"/>
          <p:cNvSpPr/>
          <p:nvPr/>
        </p:nvSpPr>
        <p:spPr>
          <a:xfrm>
            <a:off x="812800" y="1163110"/>
            <a:ext cx="10883392" cy="4390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69"/>
              </a:lnSpc>
              <a:buNone/>
            </a:pPr>
            <a:r>
              <a:rPr lang="en-US" sz="2972" b="1" dirty="0">
                <a:solidFill>
                  <a:srgbClr val="16202E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Что разрешено с моделями и данными</a:t>
            </a:r>
            <a:endParaRPr lang="en-US" sz="2972" dirty="0"/>
          </a:p>
        </p:txBody>
      </p:sp>
      <p:sp>
        <p:nvSpPr>
          <p:cNvPr id="4" name="Text 2"/>
          <p:cNvSpPr/>
          <p:nvPr/>
        </p:nvSpPr>
        <p:spPr>
          <a:xfrm>
            <a:off x="812800" y="1716484"/>
            <a:ext cx="10883392" cy="2454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Код — свободный; данные и веса — некоммерческие. Для коммерческого продукта нужен свой размеченный датасет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12800" y="2076190"/>
            <a:ext cx="10566400" cy="2496807"/>
          </a:xfrm>
          <a:custGeom>
            <a:avLst/>
            <a:gdLst/>
            <a:ahLst/>
            <a:cxnLst/>
            <a:rect l="l" t="t" r="r" b="b"/>
            <a:pathLst>
              <a:path w="10566400" h="2496807">
                <a:moveTo>
                  <a:pt x="88900" y="2496807"/>
                </a:moveTo>
                <a:lnTo>
                  <a:pt x="88900" y="2496807"/>
                </a:lnTo>
                <a:arcTo hR="88900" wR="88900" stAng="5400000" swAng="5400000"/>
                <a:lnTo>
                  <a:pt x="0" y="88900"/>
                </a:lnTo>
                <a:arcTo hR="88900" wR="88900" stAng="10800000" swAng="5400000"/>
                <a:lnTo>
                  <a:pt x="10477500" y="0"/>
                </a:lnTo>
                <a:arcTo hR="88900" wR="88900" stAng="16200000" swAng="5400000"/>
                <a:lnTo>
                  <a:pt x="10566400" y="88900"/>
                </a:lnTo>
                <a:arcTo hR="76200" wR="88900" stAng="0" swAng="-5400000"/>
                <a:lnTo>
                  <a:pt x="88900" y="12700"/>
                </a:lnTo>
                <a:arcTo hR="76200" wR="76200" stAng="16200000" swAng="-5400000"/>
                <a:lnTo>
                  <a:pt x="12700" y="2407907"/>
                </a:lnTo>
                <a:arcTo hR="88900" wR="76200" stAng="10800000" swAng="-5400000"/>
                <a:close/>
              </a:path>
            </a:pathLst>
          </a:custGeom>
          <a:solidFill>
            <a:srgbClr val="141413">
              <a:alpha val="22000"/>
            </a:srgbClr>
          </a:solidFill>
          <a:ln/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2088890"/>
          <a:ext cx="10553700" cy="2484107"/>
        </p:xfrm>
        <a:graphic>
          <a:graphicData uri="http://schemas.openxmlformats.org/drawingml/2006/table">
            <a:tbl>
              <a:tblPr/>
              <a:tblGrid>
                <a:gridCol w="3166110"/>
                <a:gridCol w="2532888"/>
                <a:gridCol w="4854702"/>
              </a:tblGrid>
              <a:tr h="328811">
                <a:tc>
                  <a:txBody>
                    <a:bodyPr/>
                    <a:lstStyle/>
                    <a:p>
                      <a:pPr indent="0" marL="0">
                        <a:lnSpc>
                          <a:spcPts val="1654"/>
                        </a:lnSpc>
                        <a:buNone/>
                      </a:pPr>
                      <a:r>
                        <a:rPr lang="en-US" sz="1181" b="1" dirty="0">
                          <a:solidFill>
                            <a:srgbClr val="F2F0E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Компонент</a:t>
                      </a:r>
                      <a:endParaRPr lang="en-US" sz="1181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2507" marR="52507" marT="52507" marB="52507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161D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61D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54"/>
                        </a:lnSpc>
                        <a:buNone/>
                      </a:pPr>
                      <a:r>
                        <a:rPr lang="en-US" sz="1181" b="1" dirty="0">
                          <a:solidFill>
                            <a:srgbClr val="F2F0E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Лицензия</a:t>
                      </a:r>
                      <a:endParaRPr lang="en-US" sz="1181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2507" marR="52507" marT="52507" marB="52507" anchor="t">
                    <a:lnL w="12700" cap="flat" cmpd="sng" algn="ctr">
                      <a:solidFill>
                        <a:srgbClr val="161D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61D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61D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54"/>
                        </a:lnSpc>
                        <a:buNone/>
                      </a:pPr>
                      <a:r>
                        <a:rPr lang="en-US" sz="1181" b="1" dirty="0">
                          <a:solidFill>
                            <a:srgbClr val="F2F0E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Что разрешают авторы</a:t>
                      </a:r>
                      <a:endParaRPr lang="en-US" sz="1181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2507" marR="52507" marT="52507" marB="52507" anchor="t">
                    <a:lnL w="12700" cap="flat" cmpd="sng" algn="ctr">
                      <a:solidFill>
                        <a:srgbClr val="161D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61D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61D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E"/>
                    </a:solidFill>
                  </a:tcPr>
                </a:tc>
              </a:tr>
              <a:tr h="538824">
                <a:tc>
                  <a:txBody>
                    <a:bodyPr/>
                    <a:lstStyle/>
                    <a:p>
                      <a:pPr indent="0" marL="0">
                        <a:lnSpc>
                          <a:spcPts val="1654"/>
                        </a:lnSpc>
                        <a:buNone/>
                      </a:pPr>
                      <a:r>
                        <a:rPr lang="en-US" sz="1181" dirty="0">
                          <a:solidFill>
                            <a:srgbClr val="16202E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OCEAN-AI, код</a:t>
                      </a:r>
                      <a:endParaRPr lang="en-US" sz="1181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2507" marR="52507" marT="52507" marB="52507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61D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54"/>
                        </a:lnSpc>
                        <a:buNone/>
                      </a:pPr>
                      <a:r>
                        <a:rPr lang="en-US" sz="1181" dirty="0">
                          <a:solidFill>
                            <a:srgbClr val="16202E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BSD-3-Clause</a:t>
                      </a:r>
                      <a:endParaRPr lang="en-US" sz="1181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2507" marR="52507" marT="52507" marB="52507" anchor="t">
                    <a:lnL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61D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54"/>
                        </a:lnSpc>
                        <a:buNone/>
                      </a:pPr>
                      <a:r>
                        <a:rPr lang="en-US" sz="1181" dirty="0">
                          <a:solidFill>
                            <a:srgbClr val="16202E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использовать, изменять, распространять — в том числе в коммерческом продукте; сохранять копирайт</a:t>
                      </a:r>
                      <a:endParaRPr lang="en-US" sz="1181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2507" marR="52507" marT="52507" marB="52507" anchor="t">
                    <a:lnL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61D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CF9"/>
                    </a:solidFill>
                  </a:tcPr>
                </a:tc>
              </a:tr>
              <a:tr h="538824">
                <a:tc>
                  <a:txBody>
                    <a:bodyPr/>
                    <a:lstStyle/>
                    <a:p>
                      <a:pPr indent="0" marL="0">
                        <a:lnSpc>
                          <a:spcPts val="1654"/>
                        </a:lnSpc>
                        <a:buNone/>
                      </a:pPr>
                      <a:r>
                        <a:rPr lang="en-US" sz="1181" dirty="0">
                          <a:solidFill>
                            <a:srgbClr val="16202E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First Impressions V2 — данные, на них обучена AMLAI 1.0</a:t>
                      </a:r>
                      <a:endParaRPr lang="en-US" sz="1181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2507" marR="52507" marT="52507" marB="52507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0BF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F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F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54"/>
                        </a:lnSpc>
                        <a:buNone/>
                      </a:pPr>
                      <a:r>
                        <a:rPr lang="en-US" sz="1181" dirty="0">
                          <a:solidFill>
                            <a:srgbClr val="16202E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CC BY-NC 4.0</a:t>
                      </a:r>
                      <a:endParaRPr lang="en-US" sz="1181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2507" marR="52507" marT="52507" marB="52507" anchor="t">
                    <a:lnL w="12700" cap="flat" cmpd="sng" algn="ctr">
                      <a:solidFill>
                        <a:srgbClr val="C0BF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F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F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F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54"/>
                        </a:lnSpc>
                        <a:buNone/>
                      </a:pPr>
                      <a:r>
                        <a:rPr lang="en-US" sz="1181" dirty="0">
                          <a:solidFill>
                            <a:srgbClr val="16202E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использовать, изменять, делиться — с указанием авторства, только некоммерчески</a:t>
                      </a:r>
                      <a:endParaRPr lang="en-US" sz="1181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2507" marR="52507" marT="52507" marB="52507" anchor="t">
                    <a:lnL w="12700" cap="flat" cmpd="sng" algn="ctr">
                      <a:solidFill>
                        <a:srgbClr val="C0BF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F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F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FEA"/>
                    </a:solidFill>
                  </a:tcPr>
                </a:tc>
              </a:tr>
              <a:tr h="538824">
                <a:tc>
                  <a:txBody>
                    <a:bodyPr/>
                    <a:lstStyle/>
                    <a:p>
                      <a:pPr indent="0" marL="0">
                        <a:lnSpc>
                          <a:spcPts val="1654"/>
                        </a:lnSpc>
                        <a:buNone/>
                      </a:pPr>
                      <a:r>
                        <a:rPr lang="en-US" sz="1181" dirty="0">
                          <a:solidFill>
                            <a:srgbClr val="16202E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MuPTA — русский корпус (веса OCEAN-AI для русской речи)</a:t>
                      </a:r>
                      <a:endParaRPr lang="en-US" sz="1181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2507" marR="52507" marT="52507" marB="52507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F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54"/>
                        </a:lnSpc>
                        <a:buNone/>
                      </a:pPr>
                      <a:r>
                        <a:rPr lang="en-US" sz="1181" dirty="0">
                          <a:solidFill>
                            <a:srgbClr val="16202E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по запросу, только исследования</a:t>
                      </a:r>
                      <a:endParaRPr lang="en-US" sz="1181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2507" marR="52507" marT="52507" marB="52507" anchor="t">
                    <a:lnL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F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54"/>
                        </a:lnSpc>
                        <a:buNone/>
                      </a:pPr>
                      <a:r>
                        <a:rPr lang="en-US" sz="1181" dirty="0">
                          <a:solidFill>
                            <a:srgbClr val="16202E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доступ по заявке авторам; некоммерческое, научное использование</a:t>
                      </a:r>
                      <a:endParaRPr lang="en-US" sz="1181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2507" marR="52507" marT="52507" marB="52507" anchor="t">
                    <a:lnL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F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CF9"/>
                    </a:solidFill>
                  </a:tcPr>
                </a:tc>
              </a:tr>
              <a:tr h="538824">
                <a:tc>
                  <a:txBody>
                    <a:bodyPr/>
                    <a:lstStyle/>
                    <a:p>
                      <a:pPr indent="0" marL="0">
                        <a:lnSpc>
                          <a:spcPts val="1654"/>
                        </a:lnSpc>
                        <a:buNone/>
                      </a:pPr>
                      <a:r>
                        <a:rPr lang="en-US" sz="1181" dirty="0">
                          <a:solidFill>
                            <a:srgbClr val="16202E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Кодировщики: CLIP, CLAP, Whisper, Qwen-VL, ViT, MediaPipe</a:t>
                      </a:r>
                      <a:endParaRPr lang="en-US" sz="1181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2507" marR="52507" marT="52507" marB="52507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0BF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F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F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54"/>
                        </a:lnSpc>
                        <a:buNone/>
                      </a:pPr>
                      <a:r>
                        <a:rPr lang="en-US" sz="1181" dirty="0">
                          <a:solidFill>
                            <a:srgbClr val="16202E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MIT / Apache-2.0</a:t>
                      </a:r>
                      <a:endParaRPr lang="en-US" sz="1181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2507" marR="52507" marT="52507" marB="52507" anchor="t">
                    <a:lnL w="12700" cap="flat" cmpd="sng" algn="ctr">
                      <a:solidFill>
                        <a:srgbClr val="C0BF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F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F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F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54"/>
                        </a:lnSpc>
                        <a:buNone/>
                      </a:pPr>
                      <a:r>
                        <a:rPr lang="en-US" sz="1181" dirty="0">
                          <a:solidFill>
                            <a:srgbClr val="16202E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свободно, в том числе коммерчески; но голос (wav2vec2) и openSMILE — некоммерчески</a:t>
                      </a:r>
                      <a:endParaRPr lang="en-US" sz="1181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2507" marR="52507" marT="52507" marB="52507" anchor="t">
                    <a:lnL w="12700" cap="flat" cmpd="sng" algn="ctr">
                      <a:solidFill>
                        <a:srgbClr val="C0BF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F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F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FEA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812800" y="4712692"/>
            <a:ext cx="10566400" cy="1129308"/>
          </a:xfrm>
          <a:prstGeom prst="roundRect">
            <a:avLst>
              <a:gd name="adj" fmla="val 8997"/>
            </a:avLst>
          </a:prstGeom>
          <a:solidFill>
            <a:srgbClr val="16202E"/>
          </a:solidFill>
          <a:ln/>
        </p:spPr>
      </p:sp>
      <p:sp>
        <p:nvSpPr>
          <p:cNvPr id="8" name="Text 5"/>
          <p:cNvSpPr/>
          <p:nvPr/>
        </p:nvSpPr>
        <p:spPr>
          <a:xfrm>
            <a:off x="977900" y="4852392"/>
            <a:ext cx="10543286" cy="4313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193" b="1" dirty="0">
                <a:solidFill>
                  <a:srgbClr val="F2F0E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Итог:</a:t>
            </a:r>
            <a:r>
              <a:rPr lang="en-US" sz="1193" dirty="0">
                <a:solidFill>
                  <a:srgbClr val="F2F0E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код можно использовать свободно, но оценки Big Five получены весами, обученными на некоммерческих данных (First Impressions V2 — CC BY-NC, MuPTA — только исследования).</a:t>
            </a:r>
            <a:endParaRPr lang="en-US" sz="1193" dirty="0"/>
          </a:p>
        </p:txBody>
      </p:sp>
      <p:sp>
        <p:nvSpPr>
          <p:cNvPr id="9" name="Text 6"/>
          <p:cNvSpPr/>
          <p:nvPr/>
        </p:nvSpPr>
        <p:spPr>
          <a:xfrm>
            <a:off x="977900" y="5296433"/>
            <a:ext cx="10543286" cy="4312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193" dirty="0">
                <a:solidFill>
                  <a:srgbClr val="C9D1D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Чтобы использовать систему коммерчески, нужен свой размеченный датасет — обучение на своих данных, которые можно использовать и изменять, снимает эти ограничения.</a:t>
            </a:r>
            <a:endParaRPr lang="en-US" sz="1193" dirty="0"/>
          </a:p>
        </p:txBody>
      </p:sp>
      <p:sp>
        <p:nvSpPr>
          <p:cNvPr id="10" name="Text 7"/>
          <p:cNvSpPr/>
          <p:nvPr/>
        </p:nvSpPr>
        <p:spPr>
          <a:xfrm>
            <a:off x="812800" y="6238280"/>
            <a:ext cx="85026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BS Profiler 3.1 · анализ человека по видео · © 2026 AMLAI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0566400" y="6238280"/>
            <a:ext cx="812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BS Profiler 3.1 — система и интерфейс</dc:title>
  <dc:subject>PptxGenJS Presentation</dc:subject>
  <dc:creator>PptxGenJS</dc:creator>
  <cp:lastModifiedBy>PptxGenJS</cp:lastModifiedBy>
  <cp:revision>1</cp:revision>
  <dcterms:created xsi:type="dcterms:W3CDTF">2026-09-30T10:14:54Z</dcterms:created>
  <dcterms:modified xsi:type="dcterms:W3CDTF">2026-09-30T10:14:54Z</dcterms:modified>
</cp:coreProperties>
</file>