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всего продукта слева направо. 1) Видео: человек говорит в камеру, русская речь; ролик загружают на веб-странице. 2) Подготовка: ролик длиннее 30 секунд режется на отрезки по 20 секунд (ffmpeg); Whisper large-v3-turbo один раз распознаёт всю речь с метками времени, и каждый отрезок получает свой текст. 3–4) Дальше на каждом отрезке идут две ветки. Оценка личности по Big Five — моделью, которую выбрал пользователь: AMLAI 1.0 (по умолчанию) или OCEAN-AI с весами MuPTA. Параллельно — анализ поведения: эмоции по смыслу речи (7 эмоций), выражение лица (7 классов) и движение головы, голос (возбуждение, уверенность, позитивность), темп речи, паузы и слова-заполнители. 5) Сведение: средние по ролику с учётом длины отрезков, разброс и линия времени; из Big Five получается тип MBTI; по числам строится характеристика личности простыми словами. 6) Результат: веб-страница с 8 вкладками, PDF-отчёт с графиками, файл result.json со всеми числами и запись в журнале запусков. Всё работает на одном компьютере с одной видеокартой, данные никуда не уходят.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Наша модель AMLAI 1.0 смотрит на каждый отрезок четырьмя способами. Лицо: 30 кадров, MediaPipe находит и вырезает лицо, CLIP ViT-B/32 превращает его в числа. Голос: звук отрезка целиком через CLAP. Речь: текст от Whisper; модель обучена на английском, поэтому русская речь переводится на английский (Marian opus-mt), текст читает EmoRoBERTa. Поведение: локальная языковая модель Qwen2.5-VL (через Ollama) смотрит на 16 кадров и пишет, что делает человек; это описание тоже читает EmoRoBERTa. Синие блоки — готовые открытые модели, мы их не меняли. Оранжевый блок — наша обученная часть: признаки сжимаются по времени (среднее и разброс), графовое внимание связывает модальности между собой, перекрёстное внимание и банк прототипов дают итог. Обучено на 6000 роликах First Impressions V2; работают пять обученных копий, их оценки усредняются. На выходе шесть чисел от 0 до 1: пять черт и «пригласил бы на собеседование». Точность на тестовых роликах First Impressions V2: средняя ошибка 0,08 по шкале 0…1 (mACC 0,920, CCC 0,715). Объяснения есть только у AMLAI 1.0: вклад каждой модальности, ключевые кадры с короткой подписью и знаком влияния, слова, на которые откликнулась модель. Вторая модель на выбор — OCEAN-AI с весами MuPTA (обучена на русской речи): аудио, видео и текст со своим слиянием, объяснений не даёт.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обучали нашу модель AMLAI 1.0. Данные — First Impressions V2: 10 000 англоязычных роликов по 15 секунд, каждый заранее оценён наблюдателями по пяти чертам. Набор заранее разбит составителями на три части: 6000 роликов на обучение, 2000 на проверку, 1997 на тест (3 ролика выпали). Кодировщики лица, голоса и текста брали готовыми и не дообучали — обучали только слияние. Рецепт (из статьи MM-PSYCHE): агрегация по времени среднее‖разброс, скрытый размер 512, 8 голов внимания, dropout 0.15, функция потерь MAE, оптимизатор Adam с шагом 1e-4, батч 32, до 100 эпох с ранней остановкой на 15 эпохах без улучшения; итог — ансамбль из пяти запусков с разными случайными весами. Ход обучения: признаки посчитали один раз (~48 минут, модели не менялись); слияние учили на 6000 роликах; лучшую эпоху выбирали по проверочным 2000; делали пять запусков и усредняли; тест прогоняли один раз на 1997 роликах, которых модель не видела, и на тесте ничего не подбирали. Что поднимало согласованность с оценками людей (CCC): основа — лицо через CLIP; голос, текст и описание поведения вместе добавляли около 0.014; пять запусков — ещё около 0.010; самый большой шаг — усреднение с системой OCEAN-AI, +0.018 (проверено бутстрепом: ансамбль лучше OCEAN-AI во всех 5000 пересборках теста, прирост CCC 0.031, интервал 0.024–0.037). Итог на тесте: точность (1 − средняя ошибка) 0.920 и CCC 0.715; в статье MM-PSYCHE 0.918 и 0.740; ансамбль AMLAI 1.0 с OCEAN-AI — 0.927 и 0.733.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верх настоящей страницы результата (снимок экрана). Слева — загрузка видео, выбор модели (AMLAI 1.0 стоит по умолчанию) и кнопки «Анализировать» и «Остановить обработку». Справа — характеристика личности: тип MBTI крупно, затем «Коротко» и «Основа описания» простыми словами. Ниже — ключевые факты: сначала значение, под ним подпись. Цвет значения говорит, где оно лежит: зелёный — около нейтрального, синий — ниже, оранжевый — выше; то же сказано словом в подписи. Кнопка «Экспорт в PDF» собирает печатный отчёт. Под этим блоком — восемь вкладок: Обзор, Тип MBTI, Таймлайн, Эмоции и голос, Речь, Мимика и кадры, Объяснения, Данные. Пример — ролик длиной 10 минут, разбитый на 31 отрезок, модель AMLAI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Снимки вкладки «Таймлайн» того же десятиминутного ролика. Верхний график — оценки пяти черт Big Five и «пригласить на собеседование» по каждому 20-секундному отрезку: линии почти ровные, значит, впечатление устойчиво по всему ролику. Серая полоса — отрезок, выбранный для объяснений и ключевых кадров. Нижние графики — голос (возбуждение, уверенность, позитивность, шкала от 0 до 1) и речь (темп в словах в минуту столбиками и доля пауз линией). На той же вкладке есть ещё график эмоций по речи и по лицу. На странице все графики интерактивные: при наведении показываются время отрезка и значения.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 MBTI считается из оценок Big Five по формуле заказчика. Четыре шкалы MBTI берутся из четырёх черт: экстраверсия даёт E или I, открытость опыту — N или S, доброжелательность — F или T, добросовестность — J или P. Порог 0,5: выше — правый полюс, ниже — левый. Если оценка ближе 0,15 к порогу, то есть в зоне 0,35–0,65, полюс не определён и в типе ставится «X». Уверенность буквы растёт с расстоянием от порога. Связь шкал (r) взята из исследований соответствия Big Five и MBTI: для E/I и S/N она высокая, для T/F и J/P средняя, поэтому последние две буквы надо читать осторожнее. Эмоциональная стабильность в MBTI не входит — о ней говорит характеристика личности. Тип считается и для каждого отрезка, поэтому видно, насколько он устойчив по ходу ролика. Внизу — что получает пользователь: веб-страница с восемью вкладками, PDF-отчёт с графиками, файл result.json со всеми числами и запись в журнале: кто и когда запускал анализ и какой получился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вкладка «Тип MBTI»: точка на каждой из четырёх осей показывает оценку, серая середина — пограничная зона. Здесь три оси из четырёх на границе, поэтому тип записан как IXXX. Нейротизм показан отдельной шкалой, потому что в MBTI его нет. Ниже — тип по каждому 20-секундному отрезку: видно, какие буквы устойчивы, а какие меняются по ходу ролика. Справа — вкладка «Объяснения»: какая доля оценки каждой черты пришлась на лицо, голос, речь и описание поведения. У этой записи модель опирается в основном на лицо и голос. На той же вкладке — слова, на которые откликнулась модель, и описание поведения по отрезкам. Объяснения есть только у AMLAI 1.0; у OCEAN-AI на их месте короткая пометка.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стек сверху вниз. Интерфейс: веб-страница на Gradio 5.8, интерактивные графики Plotly, PDF-отчёт через fpdf2 с графиками matplotlib; для публикации в интернете — Caddy с HTTPS и паролем. Интерпретация: тип MBTI по формуле заказчика, характеристика личности по шаблонам и русскому словарю, ключевые факты с цветом и оговорки. Модели: наша AMLAI 1.0 и OCEAN-AI с весами MuPTA для оценки личности; CLIP, CLAP и EmoRoBERTa — кодировщики лица, голоса и текста; wav2vec2 от audeering — возбуждение, уверенность и позитивность голоса; ViT — выражение лица; Whisper large-v3-turbo — речь в текст; Qwen2.5-VL через Ollama — описание поведения по кадрам; Marian — перевод. Медиа: ffmpeg и ffprobe режут и читают видео, OpenCV и MediaPipe находят лицо. Платформа: Python 3.12, PyTorch с CUDA 13, WSL2 с Ubuntu 24.04, одна видеокарта RTX 5090 на 24 ГБ. Справа — подходы: несколько модальностей в одной модели; анализ по отрезкам с линией времени; ансамбль из пяти копий; объяснения каждой оценки; тексты по шаблонам, поэтому одинаковые числа всегда дают одинаковую характеристику; всё локально — сервер отдаёт только то, что показано на странице, и не даёт скачать чужие файлы.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для развития — не код, а свой размеченный датасет на русском языке. Сейчас модели обучены на чужих данных: AMLAI 1.0 — на англоязычных 15-секундных роликах, OCEAN-AI — на корпусе MuPTA. Проверить точность на наших русскоязычных роликах сейчас не на чем. Что нужно: снять минимум 300–400 роликов, а лучше больше. Каждый до 10 минут, человек говорит в камеру, русская речь, лицо крупно, есть письменное согласие на обработку и хранение видео. У каждого ролика две разметки. Первая — самооценка: человек сам заполняет стандартный опросник личности по инструкции (например, BFI-2, 60 вопросов). Вторая — оценки наблюдателей: люди, которые не знают этого человека, смотрят ролики попарно и по каждой черте выбирают, кто из двоих кажется, например, общительнее; из множества таких сравнений получается оценка от 0 до 1. Так размечен First Impressions V2, на котором обучена наша модель: 10 000 роликов по 15 секунд, наблюдатели на Amazon Mechanical Turk сравнивали пары роликов по пяти чертам и по вопросу «пригласил бы на собеседование». Ориентиры по объёму: около 30 роликов — сравнить системы, около 100 — откалибровать шкалу, от 300 — дообучить модель. Что это даст: измеренную точность на русской речи, шкалу, согласованную с оценками людей, и модель, дообученную на своих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ОПИСАНИЕ ПРОДУКТА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Как работает система: от ролика до отчёта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96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Один проход по ролику: все измерения на общей оси времени, всё считается локально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053498"/>
            <a:ext cx="1447800" cy="3670300"/>
          </a:xfrm>
          <a:prstGeom prst="roundRect">
            <a:avLst>
              <a:gd name="adj" fmla="val 8333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pic>
        <p:nvPicPr>
          <p:cNvPr id="6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221224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7300" y="2219854"/>
            <a:ext cx="6114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Видео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2500" y="2529748"/>
            <a:ext cx="12319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человек говорит в камеру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52500" y="3258608"/>
            <a:ext cx="1231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русская речь, любая длина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52500" y="3774149"/>
            <a:ext cx="1231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загрузка на веб-странице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30500" y="2053498"/>
            <a:ext cx="1701800" cy="3670300"/>
          </a:xfrm>
          <a:prstGeom prst="roundRect">
            <a:avLst>
              <a:gd name="adj" fmla="val 7090"/>
            </a:avLst>
          </a:prstGeom>
          <a:solidFill>
            <a:srgbClr val="ECEEF1"/>
          </a:solidFill>
          <a:ln w="12700">
            <a:solidFill>
              <a:srgbClr val="C9CFD6"/>
            </a:solidFill>
            <a:prstDash val="solid"/>
          </a:ln>
        </p:spPr>
      </p:sp>
      <p:pic>
        <p:nvPicPr>
          <p:cNvPr id="12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63850" y="221224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68650" y="2219854"/>
            <a:ext cx="11045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Подготовка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63850" y="2529748"/>
            <a:ext cx="14859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длинный ролик режется на отрезки по 20 секунд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63850" y="3258608"/>
            <a:ext cx="14859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Whisper распознаёт речь с метками времени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95850" y="2053498"/>
            <a:ext cx="2146300" cy="1701800"/>
          </a:xfrm>
          <a:prstGeom prst="roundRect">
            <a:avLst>
              <a:gd name="adj" fmla="val 7090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7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41900" y="221224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6700" y="2219854"/>
            <a:ext cx="734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Big Five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41900" y="2517048"/>
            <a:ext cx="190982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пять черт на каждом отрезке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41900" y="3019888"/>
            <a:ext cx="190982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модель на выбор: AMLAI 1.0 или OCEAN-AI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895850" y="4021998"/>
            <a:ext cx="2146300" cy="1701800"/>
          </a:xfrm>
          <a:prstGeom prst="roundRect">
            <a:avLst>
              <a:gd name="adj" fmla="val 7090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2" name="Image 3" descr="Activit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41900" y="418074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6700" y="4188354"/>
            <a:ext cx="10445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Поведение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041900" y="4485548"/>
            <a:ext cx="190982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эмоции по смыслу речи, выражение лица, голос, темп и паузы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505700" y="2053498"/>
            <a:ext cx="1701800" cy="3670300"/>
          </a:xfrm>
          <a:prstGeom prst="roundRect">
            <a:avLst>
              <a:gd name="adj" fmla="val 709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pic>
        <p:nvPicPr>
          <p:cNvPr id="26" name="Image 4" descr="Char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39050" y="221224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43850" y="2219854"/>
            <a:ext cx="9298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Сведение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639050" y="2529748"/>
            <a:ext cx="14859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среднее по ролику с учётом длины отрезков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639050" y="3258608"/>
            <a:ext cx="1485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разброс и линия времени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639050" y="3774149"/>
            <a:ext cx="1485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тип MBTI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639050" y="4076369"/>
            <a:ext cx="14859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характеристика личности простыми словами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671050" y="2053498"/>
            <a:ext cx="1701800" cy="3670300"/>
          </a:xfrm>
          <a:prstGeom prst="roundRect">
            <a:avLst>
              <a:gd name="adj" fmla="val 7090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pic>
        <p:nvPicPr>
          <p:cNvPr id="33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804400" y="2212248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109200" y="2219854"/>
            <a:ext cx="9684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9804400" y="2529748"/>
            <a:ext cx="1485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веб-страница с 8 вкладками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9804400" y="3045288"/>
            <a:ext cx="1485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PDF-отчёт с графиками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9804400" y="3560829"/>
            <a:ext cx="1485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result.json для других программ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9804400" y="4076369"/>
            <a:ext cx="1485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журнал запусков</a:t>
            </a:r>
            <a:endParaRPr lang="en-US" sz="1200" dirty="0"/>
          </a:p>
        </p:txBody>
      </p:sp>
      <p:pic>
        <p:nvPicPr>
          <p:cNvPr id="39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222500" y="3837848"/>
            <a:ext cx="552450" cy="101600"/>
          </a:xfrm>
          <a:prstGeom prst="rect">
            <a:avLst/>
          </a:prstGeom>
        </p:spPr>
      </p:pic>
      <p:pic>
        <p:nvPicPr>
          <p:cNvPr id="40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387850" y="3837848"/>
            <a:ext cx="323850" cy="101600"/>
          </a:xfrm>
          <a:prstGeom prst="rect">
            <a:avLst/>
          </a:prstGeom>
        </p:spPr>
      </p:pic>
      <p:pic>
        <p:nvPicPr>
          <p:cNvPr id="41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610100" y="2853598"/>
            <a:ext cx="101600" cy="2070100"/>
          </a:xfrm>
          <a:prstGeom prst="rect">
            <a:avLst/>
          </a:prstGeom>
        </p:spPr>
      </p:pic>
      <p:pic>
        <p:nvPicPr>
          <p:cNvPr id="42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610100" y="2853598"/>
            <a:ext cx="330200" cy="101600"/>
          </a:xfrm>
          <a:prstGeom prst="rect">
            <a:avLst/>
          </a:prstGeom>
        </p:spPr>
      </p:pic>
      <p:pic>
        <p:nvPicPr>
          <p:cNvPr id="43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610100" y="4822098"/>
            <a:ext cx="330200" cy="101600"/>
          </a:xfrm>
          <a:prstGeom prst="rect">
            <a:avLst/>
          </a:prstGeom>
        </p:spPr>
      </p:pic>
      <p:pic>
        <p:nvPicPr>
          <p:cNvPr id="44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997700" y="2853598"/>
            <a:ext cx="330200" cy="101600"/>
          </a:xfrm>
          <a:prstGeom prst="rect">
            <a:avLst/>
          </a:prstGeom>
        </p:spPr>
      </p:pic>
      <p:pic>
        <p:nvPicPr>
          <p:cNvPr id="45" name="Image 12" descr="connector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997700" y="4822098"/>
            <a:ext cx="330200" cy="101600"/>
          </a:xfrm>
          <a:prstGeom prst="rect">
            <a:avLst/>
          </a:prstGeom>
        </p:spPr>
      </p:pic>
      <p:pic>
        <p:nvPicPr>
          <p:cNvPr id="46" name="Image 13" descr="connector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226300" y="2853598"/>
            <a:ext cx="101600" cy="2070100"/>
          </a:xfrm>
          <a:prstGeom prst="rect">
            <a:avLst/>
          </a:prstGeom>
        </p:spPr>
      </p:pic>
      <p:pic>
        <p:nvPicPr>
          <p:cNvPr id="47" name="Image 14" descr="connector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226300" y="3837848"/>
            <a:ext cx="323850" cy="101600"/>
          </a:xfrm>
          <a:prstGeom prst="rect">
            <a:avLst/>
          </a:prstGeom>
        </p:spPr>
      </p:pic>
      <p:pic>
        <p:nvPicPr>
          <p:cNvPr id="48" name="Image 15" descr="connector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163050" y="3837848"/>
            <a:ext cx="552450" cy="101600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50" name="Text 32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УСТРОЕНА 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AMLAI 1.0: четыре взгляда на человека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96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каждом отрезке четыре потока признаков сводятся в шесть оценок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9150" y="2053498"/>
            <a:ext cx="2781300" cy="673100"/>
          </a:xfrm>
          <a:prstGeom prst="roundRect">
            <a:avLst>
              <a:gd name="adj" fmla="val 1415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  <p:txBody>
          <a:bodyPr wrap="square" lIns="105452" tIns="80052" rIns="30014" bIns="80052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Лицо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30 кадров, MediaPipe вырезает лицо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9150" y="2967898"/>
            <a:ext cx="2781300" cy="673100"/>
          </a:xfrm>
          <a:prstGeom prst="roundRect">
            <a:avLst>
              <a:gd name="adj" fmla="val 1415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  <p:txBody>
          <a:bodyPr wrap="square" lIns="105452" tIns="80052" rIns="30014" bIns="80052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Голос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звук отрезка целиком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3882298"/>
            <a:ext cx="2781300" cy="673100"/>
          </a:xfrm>
          <a:prstGeom prst="roundRect">
            <a:avLst>
              <a:gd name="adj" fmla="val 1415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  <p:txBody>
          <a:bodyPr wrap="square" lIns="105452" tIns="80052" rIns="30014" bIns="80052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Речь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текст Whisper в переводе на английский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9150" y="4796698"/>
            <a:ext cx="2781300" cy="673100"/>
          </a:xfrm>
          <a:prstGeom prst="roundRect">
            <a:avLst>
              <a:gd name="adj" fmla="val 1415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  <p:txBody>
          <a:bodyPr wrap="square" lIns="105452" tIns="80052" rIns="30014" bIns="80052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Поведение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Qwen2.5-VL описывает кадры словами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27500" y="2053498"/>
            <a:ext cx="1638300" cy="673100"/>
          </a:xfrm>
          <a:prstGeom prst="roundRect">
            <a:avLst>
              <a:gd name="adj" fmla="val 1415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5450" y="217037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CLIP ViT-B/32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35450" y="239639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облик лица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27500" y="2967898"/>
            <a:ext cx="1638300" cy="673100"/>
          </a:xfrm>
          <a:prstGeom prst="roundRect">
            <a:avLst>
              <a:gd name="adj" fmla="val 1415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5450" y="308477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35450" y="331079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звучание голоса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27500" y="3882298"/>
            <a:ext cx="1638300" cy="673100"/>
          </a:xfrm>
          <a:prstGeom prst="roundRect">
            <a:avLst>
              <a:gd name="adj" fmla="val 1415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5450" y="399917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EmoRoBERTa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35450" y="422519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смысл текста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27500" y="4796698"/>
            <a:ext cx="1638300" cy="673100"/>
          </a:xfrm>
          <a:prstGeom prst="roundRect">
            <a:avLst>
              <a:gd name="adj" fmla="val 1415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5450" y="491357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EmoRoBERTa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35450" y="5139598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смысл описания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92850" y="2053498"/>
            <a:ext cx="2273300" cy="3416300"/>
          </a:xfrm>
          <a:prstGeom prst="roundRect">
            <a:avLst>
              <a:gd name="adj" fmla="val 5307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8900" y="2668323"/>
            <a:ext cx="2040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Графовое слияние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38900" y="2970543"/>
            <a:ext cx="20406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признаки сжимаются по времени: среднее и разброс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38900" y="3699404"/>
            <a:ext cx="20406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графовое внимание: каждая модальность учитывает остальные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8900" y="4428265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перекрёстное внимание и банк прототипов пяти черт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99550" y="2053498"/>
            <a:ext cx="2273300" cy="1600200"/>
          </a:xfrm>
          <a:prstGeom prst="roundRect">
            <a:avLst>
              <a:gd name="adj" fmla="val 7540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45600" y="2244064"/>
            <a:ext cx="2040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Шесть оценок 0…1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45600" y="2533584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пять черт Big Five и «собеседование»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45600" y="3036425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среднее пяти обученных копий модели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99550" y="3869598"/>
            <a:ext cx="2273300" cy="1600200"/>
          </a:xfrm>
          <a:prstGeom prst="roundRect">
            <a:avLst>
              <a:gd name="adj" fmla="val 7540"/>
            </a:avLst>
          </a:prstGeom>
          <a:solidFill>
            <a:srgbClr val="FBFBFA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45600" y="4204957"/>
            <a:ext cx="2040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Объяснения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45600" y="4494478"/>
            <a:ext cx="20406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вклад модальностей, ключевые кадры с подписью, важные слова</a:t>
            </a:r>
            <a:endParaRPr lang="en-US" sz="1200" dirty="0"/>
          </a:p>
        </p:txBody>
      </p:sp>
      <p:pic>
        <p:nvPicPr>
          <p:cNvPr id="33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56000" y="2339248"/>
            <a:ext cx="615950" cy="101600"/>
          </a:xfrm>
          <a:prstGeom prst="rect">
            <a:avLst/>
          </a:prstGeom>
        </p:spPr>
      </p:pic>
      <p:pic>
        <p:nvPicPr>
          <p:cNvPr id="3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56000" y="3253648"/>
            <a:ext cx="615950" cy="101600"/>
          </a:xfrm>
          <a:prstGeom prst="rect">
            <a:avLst/>
          </a:prstGeom>
        </p:spPr>
      </p:pic>
      <p:pic>
        <p:nvPicPr>
          <p:cNvPr id="3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56000" y="4168048"/>
            <a:ext cx="615950" cy="101600"/>
          </a:xfrm>
          <a:prstGeom prst="rect">
            <a:avLst/>
          </a:prstGeom>
        </p:spPr>
      </p:pic>
      <p:pic>
        <p:nvPicPr>
          <p:cNvPr id="3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56000" y="5082448"/>
            <a:ext cx="615950" cy="101600"/>
          </a:xfrm>
          <a:prstGeom prst="rect">
            <a:avLst/>
          </a:prstGeom>
        </p:spPr>
      </p:pic>
      <p:pic>
        <p:nvPicPr>
          <p:cNvPr id="37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21350" y="2339248"/>
            <a:ext cx="615950" cy="101600"/>
          </a:xfrm>
          <a:prstGeom prst="rect">
            <a:avLst/>
          </a:prstGeom>
        </p:spPr>
      </p:pic>
      <p:pic>
        <p:nvPicPr>
          <p:cNvPr id="38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21350" y="3253648"/>
            <a:ext cx="615950" cy="101600"/>
          </a:xfrm>
          <a:prstGeom prst="rect">
            <a:avLst/>
          </a:prstGeom>
        </p:spPr>
      </p:pic>
      <p:pic>
        <p:nvPicPr>
          <p:cNvPr id="39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721350" y="4168048"/>
            <a:ext cx="615950" cy="101600"/>
          </a:xfrm>
          <a:prstGeom prst="rect">
            <a:avLst/>
          </a:prstGeom>
        </p:spPr>
      </p:pic>
      <p:pic>
        <p:nvPicPr>
          <p:cNvPr id="40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21350" y="5082448"/>
            <a:ext cx="615950" cy="101600"/>
          </a:xfrm>
          <a:prstGeom prst="rect">
            <a:avLst/>
          </a:prstGeom>
        </p:spPr>
      </p:pic>
      <p:pic>
        <p:nvPicPr>
          <p:cNvPr id="41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521700" y="2802798"/>
            <a:ext cx="622300" cy="101600"/>
          </a:xfrm>
          <a:prstGeom prst="rect">
            <a:avLst/>
          </a:prstGeom>
        </p:spPr>
      </p:pic>
      <p:pic>
        <p:nvPicPr>
          <p:cNvPr id="42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521700" y="4618898"/>
            <a:ext cx="622300" cy="101600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819150" y="5601825"/>
            <a:ext cx="165100" cy="165100"/>
          </a:xfrm>
          <a:prstGeom prst="roundRect">
            <a:avLst>
              <a:gd name="adj" fmla="val 19231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44" name="Text 32"/>
          <p:cNvSpPr/>
          <p:nvPr/>
        </p:nvSpPr>
        <p:spPr>
          <a:xfrm>
            <a:off x="1066800" y="5577748"/>
            <a:ext cx="1199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 отрезка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2425303" y="5601825"/>
            <a:ext cx="165100" cy="165100"/>
          </a:xfrm>
          <a:prstGeom prst="roundRect">
            <a:avLst>
              <a:gd name="adj" fmla="val 1923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2672953" y="5577748"/>
            <a:ext cx="19552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готовые открытые модели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4780823" y="5601825"/>
            <a:ext cx="165100" cy="165100"/>
          </a:xfrm>
          <a:prstGeom prst="roundRect">
            <a:avLst>
              <a:gd name="adj" fmla="val 19231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5028473" y="5577748"/>
            <a:ext cx="2728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обучено нами на First Impressions V2</a:t>
            </a:r>
            <a:endParaRPr lang="en-US" sz="1200" dirty="0"/>
          </a:p>
        </p:txBody>
      </p:sp>
      <p:sp>
        <p:nvSpPr>
          <p:cNvPr id="49" name="Text 37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50" name="Text 3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ОБУЧАЛАСЬ МОДЕЛЬ</a:t>
            </a:r>
            <a:endParaRPr lang="en-US" sz="1088" dirty="0"/>
          </a:p>
        </p:txBody>
      </p:sp>
      <p:sp>
        <p:nvSpPr>
          <p:cNvPr id="3" name="Text 1"/>
          <p:cNvSpPr/>
          <p:nvPr/>
        </p:nvSpPr>
        <p:spPr>
          <a:xfrm>
            <a:off x="812800" y="1115749"/>
            <a:ext cx="10883392" cy="395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18"/>
              </a:lnSpc>
              <a:buNone/>
            </a:pPr>
            <a:r>
              <a:rPr lang="en-US" sz="2653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Обучение AMLAI 1.0 на First Impressions V2</a:t>
            </a:r>
            <a:endParaRPr lang="en-US" sz="2653" dirty="0"/>
          </a:p>
        </p:txBody>
      </p:sp>
      <p:sp>
        <p:nvSpPr>
          <p:cNvPr id="4" name="Text 2"/>
          <p:cNvSpPr/>
          <p:nvPr/>
        </p:nvSpPr>
        <p:spPr>
          <a:xfrm>
            <a:off x="812800" y="1600597"/>
            <a:ext cx="10883392" cy="222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4"/>
              </a:lnSpc>
              <a:buNone/>
            </a:pPr>
            <a:r>
              <a:rPr lang="en-US" sz="1166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Кодировщики брали готовыми, обучали только слияние; точность мерили на роликах, которых модель не видела</a:t>
            </a:r>
            <a:endParaRPr lang="en-US" sz="1166" dirty="0"/>
          </a:p>
        </p:txBody>
      </p:sp>
      <p:sp>
        <p:nvSpPr>
          <p:cNvPr id="5" name="Shape 3"/>
          <p:cNvSpPr/>
          <p:nvPr/>
        </p:nvSpPr>
        <p:spPr>
          <a:xfrm>
            <a:off x="819150" y="1918295"/>
            <a:ext cx="10553700" cy="778073"/>
          </a:xfrm>
          <a:prstGeom prst="roundRect">
            <a:avLst>
              <a:gd name="adj" fmla="val 12242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7900" y="2047413"/>
            <a:ext cx="6042877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Данные: 10 000 роликов по 15 секунд, разбиты составителями набора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38500" y="2038945"/>
            <a:ext cx="44038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англоязычные блогеры, оценки пяти черт от наблюдателей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7900" y="2245519"/>
            <a:ext cx="3399367" cy="330200"/>
          </a:xfrm>
          <a:custGeom>
            <a:avLst/>
            <a:gdLst/>
            <a:ahLst/>
            <a:cxnLst/>
            <a:rect l="l" t="t" r="r" b="b"/>
            <a:pathLst>
              <a:path w="3399367" h="330200">
                <a:moveTo>
                  <a:pt x="0" y="63500"/>
                </a:moveTo>
                <a:arcTo hR="63500" wR="63500" stAng="10800000" swAng="5400000"/>
                <a:lnTo>
                  <a:pt x="3399367" y="0"/>
                </a:lnTo>
                <a:lnTo>
                  <a:pt x="3399367" y="330200"/>
                </a:lnTo>
                <a:lnTo>
                  <a:pt x="63500" y="330200"/>
                </a:lnTo>
                <a:arcTo hR="63500" wR="63500" stAng="5400000" swAng="5400000"/>
                <a:close/>
              </a:path>
            </a:pathLst>
          </a:custGeom>
          <a:solidFill>
            <a:srgbClr val="C2410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Обучение · 6000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96317" y="2245519"/>
            <a:ext cx="3399367" cy="330200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· 2000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4734" y="2245519"/>
            <a:ext cx="3399367" cy="330200"/>
          </a:xfrm>
          <a:custGeom>
            <a:avLst/>
            <a:gdLst/>
            <a:ahLst/>
            <a:cxnLst/>
            <a:rect l="l" t="t" r="r" b="b"/>
            <a:pathLst>
              <a:path w="3399367" h="330200">
                <a:moveTo>
                  <a:pt x="3335867" y="0"/>
                </a:moveTo>
                <a:arcTo hR="63500" wR="63500" stAng="16200000" swAng="5400000"/>
                <a:lnTo>
                  <a:pt x="3399367" y="266700"/>
                </a:lnTo>
                <a:arcTo hR="63500" wR="63500" stAng="0" swAng="5400000"/>
                <a:lnTo>
                  <a:pt x="0" y="330200"/>
                </a:lnTo>
                <a:lnTo>
                  <a:pt x="0" y="0"/>
                </a:lnTo>
                <a:close/>
              </a:path>
            </a:pathLst>
          </a:cu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Тест · 1997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9150" y="2823369"/>
            <a:ext cx="3390900" cy="3012281"/>
          </a:xfrm>
          <a:prstGeom prst="roundRect">
            <a:avLst>
              <a:gd name="adj" fmla="val 3162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5200" y="2956719"/>
            <a:ext cx="3191764" cy="217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68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Рецепт обучения</a:t>
            </a:r>
            <a:endParaRPr lang="en-US" sz="1268" dirty="0"/>
          </a:p>
        </p:txBody>
      </p:sp>
      <p:sp>
        <p:nvSpPr>
          <p:cNvPr id="13" name="Text 11"/>
          <p:cNvSpPr/>
          <p:nvPr/>
        </p:nvSpPr>
        <p:spPr>
          <a:xfrm>
            <a:off x="965200" y="3205824"/>
            <a:ext cx="1003961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кодировщики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95823" y="3205824"/>
            <a:ext cx="968177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заморожены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5200" y="3461214"/>
            <a:ext cx="614296" cy="223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обучали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03405" y="3461214"/>
            <a:ext cx="1160595" cy="223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только слияние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5200" y="3716536"/>
            <a:ext cx="1582605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агрегация по времени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09730" y="3716536"/>
            <a:ext cx="1354270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среднее ‖ разброс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5200" y="3971925"/>
            <a:ext cx="1804292" cy="223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скрытый размер · головы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42771" y="3971925"/>
            <a:ext cx="521229" cy="223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512 · 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5200" y="4227249"/>
            <a:ext cx="570905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dropout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06614" y="4227249"/>
            <a:ext cx="357386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0.15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5200" y="4482638"/>
            <a:ext cx="1156295" cy="223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функция потерь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708069" y="4482638"/>
            <a:ext cx="355931" cy="223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5200" y="4737960"/>
            <a:ext cx="1314450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оптимизатор · шаг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79233" y="4737960"/>
            <a:ext cx="884767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Adam · 1e-4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5200" y="4993349"/>
            <a:ext cx="871802" cy="223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батч · эпохи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45445" y="4993349"/>
            <a:ext cx="818555" cy="223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 · до 100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5200" y="5248672"/>
            <a:ext cx="1282898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ранняя остановка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80660" y="5248672"/>
            <a:ext cx="583340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эпох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65200" y="5504061"/>
            <a:ext cx="708025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ансамбль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792611" y="5504061"/>
            <a:ext cx="1271389" cy="22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запусков (seed)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00550" y="2823369"/>
            <a:ext cx="3390900" cy="3012281"/>
          </a:xfrm>
          <a:prstGeom prst="roundRect">
            <a:avLst>
              <a:gd name="adj" fmla="val 3162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6600" y="2956719"/>
            <a:ext cx="3191764" cy="19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142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Как шло обучение</a:t>
            </a:r>
            <a:endParaRPr lang="en-US" sz="1142" dirty="0"/>
          </a:p>
        </p:txBody>
      </p:sp>
      <p:sp>
        <p:nvSpPr>
          <p:cNvPr id="35" name="Text 33"/>
          <p:cNvSpPr/>
          <p:nvPr/>
        </p:nvSpPr>
        <p:spPr>
          <a:xfrm>
            <a:off x="4546600" y="3202518"/>
            <a:ext cx="88635" cy="53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73336" y="3202518"/>
            <a:ext cx="3061227" cy="53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Признаки — один раз: готовые модели превратили 10 000 роликов в числа (~48 мин), сами не менялись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46600" y="3785262"/>
            <a:ext cx="89429" cy="53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74129" y="3785262"/>
            <a:ext cx="3060409" cy="53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Обучение слияния на 6000 роликах: сеть выдаёт шесть оценок и уменьшает ошибку к оценкам людей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46600" y="4368006"/>
            <a:ext cx="106627" cy="363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91327" y="4368006"/>
            <a:ext cx="3042695" cy="363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Лучшая эпоха — по проверочным 2000; 15 эпох без улучшения → стоп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46600" y="4781882"/>
            <a:ext cx="106495" cy="363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91195" y="4781882"/>
            <a:ext cx="3042831" cy="363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Пять запусков с разными случайными весами, их оценки усредняются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46600" y="5195756"/>
            <a:ext cx="93663" cy="53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78363" y="5195756"/>
            <a:ext cx="3056049" cy="531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Тест — один раз, 1997 роликов, которых модель не видела; на тесте ничего не подбиралось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981950" y="2823369"/>
            <a:ext cx="3390900" cy="3012281"/>
          </a:xfrm>
          <a:prstGeom prst="roundRect">
            <a:avLst>
              <a:gd name="adj" fmla="val 3162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28000" y="2956719"/>
            <a:ext cx="3191764" cy="19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142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поднимало качество (CCC)</a:t>
            </a:r>
            <a:endParaRPr lang="en-US" sz="1142" dirty="0"/>
          </a:p>
        </p:txBody>
      </p:sp>
      <p:sp>
        <p:nvSpPr>
          <p:cNvPr id="47" name="Text 45"/>
          <p:cNvSpPr/>
          <p:nvPr/>
        </p:nvSpPr>
        <p:spPr>
          <a:xfrm>
            <a:off x="8128000" y="3189354"/>
            <a:ext cx="3191764" cy="51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8"/>
              </a:lnSpc>
              <a:buNone/>
            </a:pPr>
            <a:r>
              <a:rPr lang="en-US" sz="1114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Лицо (CLIP) — основа оценки. Дальше каждый шаг добавлял к согласованности с людьми:</a:t>
            </a:r>
            <a:endParaRPr lang="en-US" sz="1114" dirty="0"/>
          </a:p>
        </p:txBody>
      </p:sp>
      <p:sp>
        <p:nvSpPr>
          <p:cNvPr id="48" name="Text 46"/>
          <p:cNvSpPr/>
          <p:nvPr/>
        </p:nvSpPr>
        <p:spPr>
          <a:xfrm>
            <a:off x="8128000" y="3739291"/>
            <a:ext cx="3191764" cy="190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голос, текст, поведение вместе</a:t>
            </a:r>
            <a:endParaRPr lang="en-US" sz="945" dirty="0"/>
          </a:p>
        </p:txBody>
      </p:sp>
      <p:sp>
        <p:nvSpPr>
          <p:cNvPr id="49" name="Shape 47"/>
          <p:cNvSpPr/>
          <p:nvPr/>
        </p:nvSpPr>
        <p:spPr>
          <a:xfrm>
            <a:off x="8128000" y="3946327"/>
            <a:ext cx="1397000" cy="139700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/>
        </p:spPr>
      </p:sp>
      <p:sp>
        <p:nvSpPr>
          <p:cNvPr id="50" name="Text 48"/>
          <p:cNvSpPr/>
          <p:nvPr/>
        </p:nvSpPr>
        <p:spPr>
          <a:xfrm>
            <a:off x="9588500" y="3913981"/>
            <a:ext cx="532672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+0.014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128000" y="4166064"/>
            <a:ext cx="3191764" cy="190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пять запусков и усреднение</a:t>
            </a:r>
            <a:endParaRPr lang="en-US" sz="945" dirty="0"/>
          </a:p>
        </p:txBody>
      </p:sp>
      <p:sp>
        <p:nvSpPr>
          <p:cNvPr id="52" name="Shape 50"/>
          <p:cNvSpPr/>
          <p:nvPr/>
        </p:nvSpPr>
        <p:spPr>
          <a:xfrm>
            <a:off x="8128000" y="4373166"/>
            <a:ext cx="996950" cy="139700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/>
        </p:spPr>
      </p:sp>
      <p:sp>
        <p:nvSpPr>
          <p:cNvPr id="53" name="Text 51"/>
          <p:cNvSpPr/>
          <p:nvPr/>
        </p:nvSpPr>
        <p:spPr>
          <a:xfrm>
            <a:off x="9188450" y="4340820"/>
            <a:ext cx="532672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+0.010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128000" y="4592903"/>
            <a:ext cx="3191764" cy="190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ансамбль с OCEAN-AI — самый большой шаг</a:t>
            </a:r>
            <a:endParaRPr lang="en-US" sz="945" dirty="0"/>
          </a:p>
        </p:txBody>
      </p:sp>
      <p:sp>
        <p:nvSpPr>
          <p:cNvPr id="55" name="Shape 53"/>
          <p:cNvSpPr/>
          <p:nvPr/>
        </p:nvSpPr>
        <p:spPr>
          <a:xfrm>
            <a:off x="8128000" y="4800005"/>
            <a:ext cx="1797050" cy="139700"/>
          </a:xfrm>
          <a:prstGeom prst="roundRect">
            <a:avLst>
              <a:gd name="adj" fmla="val 22727"/>
            </a:avLst>
          </a:prstGeom>
          <a:solidFill>
            <a:srgbClr val="C2410C"/>
          </a:solidFill>
          <a:ln/>
        </p:spPr>
      </p:sp>
      <p:sp>
        <p:nvSpPr>
          <p:cNvPr id="56" name="Text 54"/>
          <p:cNvSpPr/>
          <p:nvPr/>
        </p:nvSpPr>
        <p:spPr>
          <a:xfrm>
            <a:off x="9988550" y="4767659"/>
            <a:ext cx="532672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+0.018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128000" y="5019742"/>
            <a:ext cx="3098800" cy="682559"/>
          </a:xfrm>
          <a:prstGeom prst="roundRect">
            <a:avLst>
              <a:gd name="adj" fmla="val 11164"/>
            </a:avLst>
          </a:prstGeom>
          <a:solidFill>
            <a:srgbClr val="16202E"/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0" y="5108642"/>
            <a:ext cx="2982468" cy="185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978" b="1" dirty="0">
                <a:solidFill>
                  <a:srgbClr val="F2F0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 на тесте:</a:t>
            </a:r>
            <a:r>
              <a:rPr lang="en-US" sz="978" dirty="0">
                <a:solidFill>
                  <a:srgbClr val="F2F0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точность 0.920 · CCC 0.715</a:t>
            </a:r>
            <a:endParaRPr lang="en-US" sz="978" dirty="0"/>
          </a:p>
        </p:txBody>
      </p:sp>
      <p:sp>
        <p:nvSpPr>
          <p:cNvPr id="59" name="Text 57"/>
          <p:cNvSpPr/>
          <p:nvPr/>
        </p:nvSpPr>
        <p:spPr>
          <a:xfrm>
            <a:off x="8229600" y="5287831"/>
            <a:ext cx="2982468" cy="17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942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статье MM-PSYCHE — 0.918 · 0.740</a:t>
            </a:r>
            <a:endParaRPr lang="en-US" sz="942" dirty="0"/>
          </a:p>
        </p:txBody>
      </p:sp>
      <p:sp>
        <p:nvSpPr>
          <p:cNvPr id="60" name="Text 58"/>
          <p:cNvSpPr/>
          <p:nvPr/>
        </p:nvSpPr>
        <p:spPr>
          <a:xfrm>
            <a:off x="8229600" y="5460141"/>
            <a:ext cx="2982468" cy="17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942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ансамбль с OCEAN-AI — 0.927 · 0.733</a:t>
            </a:r>
            <a:endParaRPr lang="en-US" sz="942" dirty="0"/>
          </a:p>
        </p:txBody>
      </p:sp>
      <p:sp>
        <p:nvSpPr>
          <p:cNvPr id="61" name="Text 5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Так выглядит страница результата</a:t>
            </a:r>
            <a:endParaRPr lang="en-US" sz="3200" dirty="0"/>
          </a:p>
        </p:txBody>
      </p:sp>
      <p:pic>
        <p:nvPicPr>
          <p:cNvPr id="4" name="Image 0" descr="Верх страницы BS Profiler 3.1: загрузка видео, выбор модели AMLAI 1.0 или OCEAN-AI, характеристика личности с типом MBTI и цветные карточки ключевых фактов">    </p:cNvPr>
          <p:cNvPicPr>
            <a:picLocks noChangeAspect="1"/>
          </p:cNvPicPr>
          <p:nvPr/>
        </p:nvPicPr>
        <p:blipFill>
          <a:blip r:embed="rId1"/>
          <a:srcRect l="-111" r="-111" t="0" b="0"/>
          <a:stretch/>
        </p:blipFill>
        <p:spPr>
          <a:xfrm>
            <a:off x="825500" y="1810941"/>
            <a:ext cx="7086600" cy="4006850"/>
          </a:xfrm>
          <a:prstGeom prst="roundRect">
            <a:avLst>
              <a:gd name="adj" fmla="val 1585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9150" y="1804591"/>
            <a:ext cx="7099300" cy="4019550"/>
          </a:xfrm>
          <a:prstGeom prst="roundRect">
            <a:avLst>
              <a:gd name="adj" fmla="val 1738"/>
            </a:avLst>
          </a:prstGeom>
          <a:noFill/>
          <a:ln w="12700">
            <a:solidFill>
              <a:srgbClr val="C9CF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798241"/>
            <a:ext cx="32440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Загрузка ролика и выбор модели: AMLAI 1.0 или OCEAN-AI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2377281"/>
            <a:ext cx="32440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Характеристика личности и тип MBTI простыми словами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2956322"/>
            <a:ext cx="32440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Ключевые факты: цвет значения — ниже, около или выше нейтрального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3535363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PDF-отчёт одной кнопкой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0" y="3901083"/>
            <a:ext cx="32440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Ниже — 8 вкладок с графиками и подробностями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Графики по ходу ролика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98241"/>
            <a:ext cx="622300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</p:sp>
      <p:pic>
        <p:nvPicPr>
          <p:cNvPr id="5" name="Image 0" descr="График «Big Five по ходу ролика»: оценки пяти черт и «собеседования» по каждому 20-секундному отрезку десятиминутного ролика; серой полосой отмечен отрезок для объяснений">    </p:cNvPr>
          <p:cNvPicPr>
            <a:picLocks noChangeAspect="1"/>
          </p:cNvPicPr>
          <p:nvPr/>
        </p:nvPicPr>
        <p:blipFill>
          <a:blip r:embed="rId1"/>
          <a:srcRect l="-450" r="-450" t="0" b="0"/>
          <a:stretch/>
        </p:blipFill>
        <p:spPr>
          <a:xfrm>
            <a:off x="825500" y="1810941"/>
            <a:ext cx="6197600" cy="1936750"/>
          </a:xfrm>
          <a:prstGeom prst="roundRect">
            <a:avLst>
              <a:gd name="adj" fmla="val 3279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9150" y="1804591"/>
            <a:ext cx="6210300" cy="1949450"/>
          </a:xfrm>
          <a:prstGeom prst="roundRect">
            <a:avLst>
              <a:gd name="adj" fmla="val 3583"/>
            </a:avLst>
          </a:prstGeom>
          <a:noFill/>
          <a:ln w="12700">
            <a:solidFill>
              <a:srgbClr val="D6DA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800" y="3861991"/>
            <a:ext cx="6223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pic>
        <p:nvPicPr>
          <p:cNvPr id="8" name="Image 1" descr="Два графика: голос по ходу ролика (возбуждение, уверенность, позитивность) и речь по ходу ролика (темп в словах в минуту и доля пауз)">    </p:cNvPr>
          <p:cNvPicPr>
            <a:picLocks noChangeAspect="1"/>
          </p:cNvPicPr>
          <p:nvPr/>
        </p:nvPicPr>
        <p:blipFill>
          <a:blip r:embed="rId2"/>
          <a:srcRect l="-499" r="-499" t="0" b="0"/>
          <a:stretch/>
        </p:blipFill>
        <p:spPr>
          <a:xfrm>
            <a:off x="825500" y="3874691"/>
            <a:ext cx="6197600" cy="1879600"/>
          </a:xfrm>
          <a:prstGeom prst="roundRect">
            <a:avLst>
              <a:gd name="adj" fmla="val 3378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819150" y="3868341"/>
            <a:ext cx="6210300" cy="1892300"/>
          </a:xfrm>
          <a:prstGeom prst="roundRect">
            <a:avLst>
              <a:gd name="adj" fmla="val 3691"/>
            </a:avLst>
          </a:prstGeom>
          <a:noFill/>
          <a:ln w="12700">
            <a:solidFill>
              <a:srgbClr val="D6DA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40600" y="1798241"/>
            <a:ext cx="415975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Big Five по отрезкам.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Оценка пяти черт и «собеседования» каждые 20 секунд: видно, где человек держится ровно, а где меняется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40600" y="2590602"/>
            <a:ext cx="415975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Серая полоса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отрезок, по которому строятся объяснения и ключевые кадры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340600" y="3169642"/>
            <a:ext cx="415975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Голос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возбуждение, уверенность и позитивность по ходу ролика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40600" y="3748683"/>
            <a:ext cx="41597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Речь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темп в словах в минуту и доля пауз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340600" y="4114403"/>
            <a:ext cx="415975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странице графики интерактивные: при наведении видны время и значения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ИНТЕРПРЕТАЦИЯ И РЕЗУЛЬТАТ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Big Five → тип MBTI → отчёт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47441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09800" y="1747441"/>
            <a:ext cx="127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0,35–0,65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03600" y="1747441"/>
            <a:ext cx="147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2061040"/>
            <a:ext cx="2273300" cy="378420"/>
          </a:xfrm>
          <a:prstGeom prst="roundRect">
            <a:avLst>
              <a:gd name="adj" fmla="val 21814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square" lIns="109172" tIns="58372" rIns="48974" bIns="3297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Экстраверсия</a:t>
            </a:r>
            <a:endParaRPr lang="en-US" sz="1400" dirty="0"/>
          </a:p>
        </p:txBody>
      </p:sp>
      <p:pic>
        <p:nvPicPr>
          <p:cNvPr id="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2199481"/>
            <a:ext cx="355600" cy="10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0" y="2047081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0" y="88900"/>
                </a:moveTo>
                <a:arcTo hR="88900" wR="88900" stAng="10800000" swAng="5400000"/>
                <a:lnTo>
                  <a:pt x="1422400" y="0"/>
                </a:lnTo>
                <a:lnTo>
                  <a:pt x="1422400" y="406400"/>
                </a:lnTo>
                <a:lnTo>
                  <a:pt x="88900" y="406400"/>
                </a:lnTo>
                <a:arcTo hR="88900" wR="88900" stAng="5400000" swAng="5400000"/>
                <a:close/>
              </a:path>
            </a:pathLst>
          </a:custGeom>
          <a:solidFill>
            <a:srgbClr val="DDE6F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80000" y="2047081"/>
            <a:ext cx="1219200" cy="406400"/>
          </a:xfrm>
          <a:prstGeom prst="rect">
            <a:avLst/>
          </a:prstGeom>
          <a:solidFill>
            <a:srgbClr val="E3E6E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99200" y="2047081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333500" y="0"/>
                </a:moveTo>
                <a:arcTo hR="88900" wR="88900" stAng="16200000" swAng="5400000"/>
                <a:lnTo>
                  <a:pt x="1422400" y="317500"/>
                </a:lnTo>
                <a:arcTo hR="88900" wR="88900" stAng="0" swAng="5400000"/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BE3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03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23200" y="2036961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— экстраверсия, I — интроверсия · связь высокая, r = 0,74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9150" y="2563881"/>
            <a:ext cx="2273300" cy="378420"/>
          </a:xfrm>
          <a:prstGeom prst="roundRect">
            <a:avLst>
              <a:gd name="adj" fmla="val 21814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square" lIns="109172" tIns="58372" rIns="48974" bIns="3297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Открытость опыту</a:t>
            </a:r>
            <a:endParaRPr lang="en-US" sz="1400" dirty="0"/>
          </a:p>
        </p:txBody>
      </p:sp>
      <p:pic>
        <p:nvPicPr>
          <p:cNvPr id="1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2702322"/>
            <a:ext cx="355600" cy="101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549922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0" y="88900"/>
                </a:moveTo>
                <a:arcTo hR="88900" wR="88900" stAng="10800000" swAng="5400000"/>
                <a:lnTo>
                  <a:pt x="1422400" y="0"/>
                </a:lnTo>
                <a:lnTo>
                  <a:pt x="1422400" y="406400"/>
                </a:lnTo>
                <a:lnTo>
                  <a:pt x="88900" y="406400"/>
                </a:lnTo>
                <a:arcTo hR="88900" wR="88900" stAng="5400000" swAng="5400000"/>
                <a:close/>
              </a:path>
            </a:pathLst>
          </a:custGeom>
          <a:solidFill>
            <a:srgbClr val="DDE6F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80000" y="2549922"/>
            <a:ext cx="1219200" cy="406400"/>
          </a:xfrm>
          <a:prstGeom prst="rect">
            <a:avLst/>
          </a:prstGeom>
          <a:solidFill>
            <a:srgbClr val="E3E6E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299200" y="2549922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333500" y="0"/>
                </a:moveTo>
                <a:arcTo hR="88900" wR="88900" stAng="16200000" swAng="5400000"/>
                <a:lnTo>
                  <a:pt x="1422400" y="317500"/>
                </a:lnTo>
                <a:arcTo hR="88900" wR="88900" stAng="0" swAng="5400000"/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BE3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03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823200" y="2539802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 — интуиция, S — сенсорика · связь высокая, r = 0,72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9150" y="3066721"/>
            <a:ext cx="2273300" cy="378420"/>
          </a:xfrm>
          <a:prstGeom prst="roundRect">
            <a:avLst>
              <a:gd name="adj" fmla="val 21814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square" lIns="109172" tIns="58372" rIns="48974" bIns="3297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Доброжелательность</a:t>
            </a:r>
            <a:endParaRPr lang="en-US" sz="1400" dirty="0"/>
          </a:p>
        </p:txBody>
      </p:sp>
      <p:pic>
        <p:nvPicPr>
          <p:cNvPr id="20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0400" y="3205163"/>
            <a:ext cx="355600" cy="101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57600" y="3052763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0" y="88900"/>
                </a:moveTo>
                <a:arcTo hR="88900" wR="88900" stAng="10800000" swAng="5400000"/>
                <a:lnTo>
                  <a:pt x="1422400" y="0"/>
                </a:lnTo>
                <a:lnTo>
                  <a:pt x="1422400" y="406400"/>
                </a:lnTo>
                <a:lnTo>
                  <a:pt x="88900" y="406400"/>
                </a:lnTo>
                <a:arcTo hR="88900" wR="88900" stAng="5400000" swAng="5400000"/>
                <a:close/>
              </a:path>
            </a:pathLst>
          </a:custGeom>
          <a:solidFill>
            <a:srgbClr val="DDE6F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080000" y="3052763"/>
            <a:ext cx="1219200" cy="406400"/>
          </a:xfrm>
          <a:prstGeom prst="rect">
            <a:avLst/>
          </a:prstGeom>
          <a:solidFill>
            <a:srgbClr val="E3E6E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99200" y="3052763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333500" y="0"/>
                </a:moveTo>
                <a:arcTo hR="88900" wR="88900" stAng="16200000" swAng="5400000"/>
                <a:lnTo>
                  <a:pt x="1422400" y="317500"/>
                </a:lnTo>
                <a:arcTo hR="88900" wR="88900" stAng="0" swAng="5400000"/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BE3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03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823200" y="3042642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 — чувство, T — мышление · связь средняя, r = 0,44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19150" y="3569562"/>
            <a:ext cx="2273300" cy="378420"/>
          </a:xfrm>
          <a:prstGeom prst="roundRect">
            <a:avLst>
              <a:gd name="adj" fmla="val 21814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square" lIns="109172" tIns="58372" rIns="48974" bIns="3297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Добросовестность</a:t>
            </a:r>
            <a:endParaRPr lang="en-US" sz="1400" dirty="0"/>
          </a:p>
        </p:txBody>
      </p:sp>
      <p:pic>
        <p:nvPicPr>
          <p:cNvPr id="2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00400" y="3708003"/>
            <a:ext cx="355600" cy="101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657600" y="3555603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0" y="88900"/>
                </a:moveTo>
                <a:arcTo hR="88900" wR="88900" stAng="10800000" swAng="5400000"/>
                <a:lnTo>
                  <a:pt x="1422400" y="0"/>
                </a:lnTo>
                <a:lnTo>
                  <a:pt x="1422400" y="406400"/>
                </a:lnTo>
                <a:lnTo>
                  <a:pt x="88900" y="406400"/>
                </a:lnTo>
                <a:arcTo hR="88900" wR="88900" stAng="5400000" swAng="5400000"/>
                <a:close/>
              </a:path>
            </a:pathLst>
          </a:custGeom>
          <a:solidFill>
            <a:srgbClr val="DDE6F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080000" y="3555603"/>
            <a:ext cx="1219200" cy="406400"/>
          </a:xfrm>
          <a:prstGeom prst="rect">
            <a:avLst/>
          </a:prstGeom>
          <a:solidFill>
            <a:srgbClr val="E3E6E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299200" y="3555603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333500" y="0"/>
                </a:moveTo>
                <a:arcTo hR="88900" wR="88900" stAng="16200000" swAng="5400000"/>
                <a:lnTo>
                  <a:pt x="1422400" y="317500"/>
                </a:lnTo>
                <a:arcTo hR="88900" wR="88900" stAng="0" swAng="5400000"/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BE3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03A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823200" y="3545483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 — суждение, P — восприятие · связь средняя, r = 0,49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12800" y="4048323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Порог — 0,5. В пределах ±0,15 от порога полюс не определён, и в типе ставится «X». Эмоциональная стабильность в тип не входит и описана в характеристике.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12800" y="460196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получает пользователь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812800" y="4954984"/>
            <a:ext cx="812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Страница: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657085" y="4897834"/>
            <a:ext cx="684213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Обзор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2430198" y="4897834"/>
            <a:ext cx="901105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Тип MBTI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3420203" y="4897834"/>
            <a:ext cx="941586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Таймлайн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450689" y="4897834"/>
            <a:ext cx="1357379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Эмоции и голос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896967" y="4897834"/>
            <a:ext cx="575535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Речь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6561403" y="4897834"/>
            <a:ext cx="1432520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Мимика и кадры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8082823" y="4897834"/>
            <a:ext cx="1115351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Объяснения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9287073" y="4897834"/>
            <a:ext cx="805855" cy="327620"/>
          </a:xfrm>
          <a:prstGeom prst="roundRect">
            <a:avLst>
              <a:gd name="adj" fmla="val 50000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812800" y="5371505"/>
            <a:ext cx="622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Файлы: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1466850" y="5314355"/>
            <a:ext cx="1921867" cy="327620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PDF-отчёт с графиками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3477617" y="5314355"/>
            <a:ext cx="1767020" cy="327620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result.json с данными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5333537" y="5314355"/>
            <a:ext cx="2810338" cy="327620"/>
          </a:xfrm>
          <a:prstGeom prst="roundRect">
            <a:avLst>
              <a:gd name="adj" fmla="val 50000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журнал: кто, когда, какой результат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Тип MBTI и объяснения на странице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98241"/>
            <a:ext cx="609600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</p:sp>
      <p:pic>
        <p:nvPicPr>
          <p:cNvPr id="5" name="Image 0" descr="Вкладка «Тип MBTI»: положение оценки на четырёх осях с пограничной зоной, нейротизм отдельной шкалой и ниже — буквы типа по каждому отрезку ролика">    </p:cNvPr>
          <p:cNvPicPr>
            <a:picLocks noChangeAspect="1"/>
          </p:cNvPicPr>
          <p:nvPr/>
        </p:nvPicPr>
        <p:blipFill>
          <a:blip r:embed="rId1"/>
          <a:srcRect l="-102" r="-102" t="0" b="0"/>
          <a:stretch/>
        </p:blipFill>
        <p:spPr>
          <a:xfrm>
            <a:off x="825500" y="1810941"/>
            <a:ext cx="6070600" cy="3632200"/>
          </a:xfrm>
          <a:prstGeom prst="roundRect">
            <a:avLst>
              <a:gd name="adj" fmla="val 1748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9150" y="1804591"/>
            <a:ext cx="6083300" cy="3644900"/>
          </a:xfrm>
          <a:prstGeom prst="roundRect">
            <a:avLst>
              <a:gd name="adj" fmla="val 1916"/>
            </a:avLst>
          </a:prstGeom>
          <a:noFill/>
          <a:ln w="12700">
            <a:solidFill>
              <a:srgbClr val="C9CF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13600" y="1798241"/>
            <a:ext cx="4165600" cy="245745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</p:spPr>
      </p:sp>
      <p:pic>
        <p:nvPicPr>
          <p:cNvPr id="8" name="Image 1" descr="Таблица «Вклад модальностей в оценку модели AMLAI 1.0»: для каждой черты доли лица, голоса, речи и описания поведения">    </p:cNvPr>
          <p:cNvPicPr>
            <a:picLocks noChangeAspect="1"/>
          </p:cNvPicPr>
          <p:nvPr/>
        </p:nvPicPr>
        <p:blipFill>
          <a:blip r:embed="rId2"/>
          <a:srcRect l="-171" r="-171" t="0" b="0"/>
          <a:stretch/>
        </p:blipFill>
        <p:spPr>
          <a:xfrm>
            <a:off x="7226300" y="1810941"/>
            <a:ext cx="4140200" cy="2432050"/>
          </a:xfrm>
          <a:prstGeom prst="roundRect">
            <a:avLst>
              <a:gd name="adj" fmla="val 2611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7219950" y="1804591"/>
            <a:ext cx="4152900" cy="2444750"/>
          </a:xfrm>
          <a:prstGeom prst="roundRect">
            <a:avLst>
              <a:gd name="adj" fmla="val 2857"/>
            </a:avLst>
          </a:prstGeom>
          <a:noFill/>
          <a:ln w="12700">
            <a:solidFill>
              <a:srgbClr val="C9CFD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213600" y="4382691"/>
            <a:ext cx="429056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Тип MBTI: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положение на каждой оси, пограничные оси и тип по каждому отрезку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213600" y="4936331"/>
            <a:ext cx="429056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Объяснения</a:t>
            </a: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(AMLAI 1.0): доля лица, голоса, речи и поведения в оценке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Стек и подходы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98241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Стек, от интерфейса к железу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094111"/>
            <a:ext cx="6337300" cy="591741"/>
          </a:xfrm>
          <a:prstGeom prst="roundRect">
            <a:avLst>
              <a:gd name="adj" fmla="val 16097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7900" y="2265496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Интерфейс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4300" y="2176661"/>
            <a:ext cx="447370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Gradio 5.8 · графики Plotly · PDF: fpdf2 и matplotlib · Caddy: HTTPS и пароль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9150" y="2774752"/>
            <a:ext cx="6337300" cy="591741"/>
          </a:xfrm>
          <a:prstGeom prst="roundRect">
            <a:avLst>
              <a:gd name="adj" fmla="val 16097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7900" y="2946136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Интерпретация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4300" y="2857302"/>
            <a:ext cx="447370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MBTI по формуле заказчика · характеристика по шаблонам и словарю · ключевые факты и оговорки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9150" y="3455392"/>
            <a:ext cx="6337300" cy="805061"/>
          </a:xfrm>
          <a:prstGeom prst="roundRect">
            <a:avLst>
              <a:gd name="adj" fmla="val 11831"/>
            </a:avLst>
          </a:prstGeom>
          <a:solidFill>
            <a:srgbClr val="DDE6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7900" y="3733471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4E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Модели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4300" y="3537942"/>
            <a:ext cx="447370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AMLAI 1.0 (наша) · OCEAN-AI (веса MuPTA) · CLIP · CLAP · EmoRoBERTa · wav2vec2 (голос) · ViT (мимика) · Whisper · Qwen2.5-VL через Ollama · Marian (перевод)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150" y="4349353"/>
            <a:ext cx="6337300" cy="414007"/>
          </a:xfrm>
          <a:prstGeom prst="roundRect">
            <a:avLst>
              <a:gd name="adj" fmla="val 23007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7900" y="4431903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Медиа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4300" y="4449700"/>
            <a:ext cx="44737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ffmpeg и ffprobe · OpenCV · MediaPipe (поиск лица)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150" y="4852262"/>
            <a:ext cx="6337300" cy="591741"/>
          </a:xfrm>
          <a:prstGeom prst="roundRect">
            <a:avLst>
              <a:gd name="adj" fmla="val 16097"/>
            </a:avLst>
          </a:prstGeom>
          <a:solidFill>
            <a:srgbClr val="FBFBFA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900" y="5023644"/>
            <a:ext cx="1574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Платформа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4300" y="4934812"/>
            <a:ext cx="447370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3.12 · PyTorch и CUDA 13 · WSL2, Ubuntu 24.04 · одна RTX 5090, 24 ГБ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69200" y="1798241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Подходы</a:t>
            </a:r>
            <a:endParaRPr lang="en-US" sz="1400" dirty="0"/>
          </a:p>
        </p:txBody>
      </p:sp>
      <p:pic>
        <p:nvPicPr>
          <p:cNvPr id="21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69200" y="2138561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899400" y="2138561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Мультимодальность: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лицо, голос, речь и поведение в одной модели</a:t>
            </a:r>
            <a:endParaRPr lang="en-US" sz="1200" dirty="0"/>
          </a:p>
        </p:txBody>
      </p:sp>
      <p:pic>
        <p:nvPicPr>
          <p:cNvPr id="23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69200" y="2692202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899400" y="2692202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Линия времени: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отрезки по 20 с показывают, как меняется человек</a:t>
            </a:r>
            <a:endParaRPr lang="en-US" sz="1200" dirty="0"/>
          </a:p>
        </p:txBody>
      </p:sp>
      <p:pic>
        <p:nvPicPr>
          <p:cNvPr id="25" name="Image 2" descr="Sta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69200" y="3245842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899400" y="3245842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Ансамбль: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пять обученных копий модели, оценки усредняются</a:t>
            </a:r>
            <a:endParaRPr lang="en-US" sz="12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69200" y="3799483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899400" y="3799483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Объяснимость: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вклад модальностей, ключевые кадры, важные слова</a:t>
            </a:r>
            <a:endParaRPr lang="en-US" sz="1200" dirty="0"/>
          </a:p>
        </p:txBody>
      </p:sp>
      <p:pic>
        <p:nvPicPr>
          <p:cNvPr id="29" name="Image 4" descr="Boo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69200" y="4353123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99400" y="4353123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Предсказуемые тексты: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характеристика строится по шаблонам</a:t>
            </a:r>
            <a:endParaRPr lang="en-US" sz="1200" dirty="0"/>
          </a:p>
        </p:txBody>
      </p:sp>
      <p:pic>
        <p:nvPicPr>
          <p:cNvPr id="31" name="Image 5" descr="Lo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569200" y="4906764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99400" y="4906764"/>
            <a:ext cx="35841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Локально:</a:t>
            </a: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данные не покидают компьютер, наружу — только страница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241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НУЖНО ДЛЯ РАЗВИТИЯ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Главное — свой размеченный датасет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04591"/>
            <a:ext cx="2019300" cy="2273300"/>
          </a:xfrm>
          <a:prstGeom prst="roundRect">
            <a:avLst>
              <a:gd name="adj" fmla="val 5975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pic>
        <p:nvPicPr>
          <p:cNvPr id="5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1950641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0000" y="1958249"/>
            <a:ext cx="7243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Съёмка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5200" y="2255441"/>
            <a:ext cx="177901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300–400+ роликов, лучше больше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5200" y="2758281"/>
            <a:ext cx="177901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 10 минут, русская речь, лицо крупно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5200" y="3261122"/>
            <a:ext cx="1779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согласие участника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27400" y="1804591"/>
            <a:ext cx="2781300" cy="1028700"/>
          </a:xfrm>
          <a:prstGeom prst="roundRect">
            <a:avLst>
              <a:gd name="adj" fmla="val 11728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3450" y="1937941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8250" y="1945549"/>
            <a:ext cx="11557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Самооценка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3450" y="2230041"/>
            <a:ext cx="25638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человек сам заполняет опросник по инструкции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27400" y="3049191"/>
            <a:ext cx="2781300" cy="1028700"/>
          </a:xfrm>
          <a:prstGeom prst="roundRect">
            <a:avLst>
              <a:gd name="adj" fmla="val 11728"/>
            </a:avLst>
          </a:prstGeom>
          <a:solidFill>
            <a:srgbClr val="FBE3D4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5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73450" y="3182541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78250" y="3190149"/>
            <a:ext cx="20971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Оценки наблюдателей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473450" y="3474641"/>
            <a:ext cx="25638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незнакомые люди сравнивают ролики попарно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597650" y="1804591"/>
            <a:ext cx="2019300" cy="2273300"/>
          </a:xfrm>
          <a:prstGeom prst="roundRect">
            <a:avLst>
              <a:gd name="adj" fmla="val 5975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pic>
        <p:nvPicPr>
          <p:cNvPr id="19" name="Image 3" descr="Databa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43700" y="1950641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48500" y="1958249"/>
            <a:ext cx="7915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Датасет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743700" y="2255441"/>
            <a:ext cx="177901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ролик, самооценка и оценки со стороны по пяти чертам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099550" y="1804591"/>
            <a:ext cx="2273300" cy="2273300"/>
          </a:xfrm>
          <a:prstGeom prst="roundRect">
            <a:avLst>
              <a:gd name="adj" fmla="val 5307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pic>
        <p:nvPicPr>
          <p:cNvPr id="23" name="Image 4" descr="Lightbulb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245600" y="1950641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50400" y="1958249"/>
            <a:ext cx="11771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это даст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245600" y="2255441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измеренная точность на русской речи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245600" y="2758281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шкала, откалиброванная под людей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9245600" y="3261122"/>
            <a:ext cx="20406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модель, дообученная на своих данных</a:t>
            </a:r>
            <a:endParaRPr lang="en-US" sz="1200" dirty="0"/>
          </a:p>
        </p:txBody>
      </p:sp>
      <p:pic>
        <p:nvPicPr>
          <p:cNvPr id="28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794000" y="2890441"/>
            <a:ext cx="342900" cy="101600"/>
          </a:xfrm>
          <a:prstGeom prst="rect">
            <a:avLst/>
          </a:prstGeom>
        </p:spPr>
      </p:pic>
      <p:pic>
        <p:nvPicPr>
          <p:cNvPr id="29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035300" y="2268141"/>
            <a:ext cx="101600" cy="1346200"/>
          </a:xfrm>
          <a:prstGeom prst="rect">
            <a:avLst/>
          </a:prstGeom>
        </p:spPr>
      </p:pic>
      <p:pic>
        <p:nvPicPr>
          <p:cNvPr id="30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035300" y="2268141"/>
            <a:ext cx="336550" cy="101600"/>
          </a:xfrm>
          <a:prstGeom prst="rect">
            <a:avLst/>
          </a:prstGeom>
        </p:spPr>
      </p:pic>
      <p:pic>
        <p:nvPicPr>
          <p:cNvPr id="31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035300" y="3512741"/>
            <a:ext cx="336550" cy="101600"/>
          </a:xfrm>
          <a:prstGeom prst="rect">
            <a:avLst/>
          </a:prstGeom>
        </p:spPr>
      </p:pic>
      <p:pic>
        <p:nvPicPr>
          <p:cNvPr id="32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064250" y="2268141"/>
            <a:ext cx="336550" cy="101600"/>
          </a:xfrm>
          <a:prstGeom prst="rect">
            <a:avLst/>
          </a:prstGeom>
        </p:spPr>
      </p:pic>
      <p:pic>
        <p:nvPicPr>
          <p:cNvPr id="33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064250" y="3512741"/>
            <a:ext cx="336550" cy="101600"/>
          </a:xfrm>
          <a:prstGeom prst="rect">
            <a:avLst/>
          </a:prstGeom>
        </p:spPr>
      </p:pic>
      <p:pic>
        <p:nvPicPr>
          <p:cNvPr id="34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299200" y="2268141"/>
            <a:ext cx="101600" cy="1346200"/>
          </a:xfrm>
          <a:prstGeom prst="rect">
            <a:avLst/>
          </a:prstGeom>
        </p:spPr>
      </p:pic>
      <p:pic>
        <p:nvPicPr>
          <p:cNvPr id="35" name="Image 12" descr="connector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299200" y="2890441"/>
            <a:ext cx="342900" cy="101600"/>
          </a:xfrm>
          <a:prstGeom prst="rect">
            <a:avLst/>
          </a:prstGeom>
        </p:spPr>
      </p:pic>
      <p:pic>
        <p:nvPicPr>
          <p:cNvPr id="36" name="Image 13" descr="connector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572500" y="2890441"/>
            <a:ext cx="571500" cy="101600"/>
          </a:xfrm>
          <a:prstGeom prst="rect">
            <a:avLst/>
          </a:prstGeom>
        </p:spPr>
      </p:pic>
      <p:sp>
        <p:nvSpPr>
          <p:cNvPr id="37" name="Shape 21"/>
          <p:cNvSpPr/>
          <p:nvPr/>
        </p:nvSpPr>
        <p:spPr>
          <a:xfrm>
            <a:off x="819150" y="4242991"/>
            <a:ext cx="3407833" cy="1434902"/>
          </a:xfrm>
          <a:prstGeom prst="roundRect">
            <a:avLst>
              <a:gd name="adj" fmla="val 8408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38" name="Text 22"/>
          <p:cNvSpPr/>
          <p:nvPr/>
        </p:nvSpPr>
        <p:spPr>
          <a:xfrm>
            <a:off x="977900" y="4401741"/>
            <a:ext cx="31830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Инструкции</a:t>
            </a:r>
            <a:endParaRPr lang="en-US" sz="1400" dirty="0"/>
          </a:p>
        </p:txBody>
      </p:sp>
      <p:sp>
        <p:nvSpPr>
          <p:cNvPr id="39" name="Text 23"/>
          <p:cNvSpPr/>
          <p:nvPr/>
        </p:nvSpPr>
        <p:spPr>
          <a:xfrm>
            <a:off x="977900" y="4665861"/>
            <a:ext cx="318304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одна короткая инструкция для всех; самооценка — стандартный опросник, например BFI-2; оценки не обсуждаются</a:t>
            </a:r>
            <a:endParaRPr lang="en-US" sz="1200" dirty="0"/>
          </a:p>
        </p:txBody>
      </p:sp>
      <p:sp>
        <p:nvSpPr>
          <p:cNvPr id="40" name="Shape 24"/>
          <p:cNvSpPr/>
          <p:nvPr/>
        </p:nvSpPr>
        <p:spPr>
          <a:xfrm>
            <a:off x="4392083" y="4242991"/>
            <a:ext cx="3407833" cy="1434902"/>
          </a:xfrm>
          <a:prstGeom prst="roundRect">
            <a:avLst>
              <a:gd name="adj" fmla="val 8408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41" name="Text 25"/>
          <p:cNvSpPr/>
          <p:nvPr/>
        </p:nvSpPr>
        <p:spPr>
          <a:xfrm>
            <a:off x="4550833" y="4401741"/>
            <a:ext cx="31830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Попарная оценка</a:t>
            </a:r>
            <a:endParaRPr lang="en-US" sz="1400" dirty="0"/>
          </a:p>
        </p:txBody>
      </p:sp>
      <p:sp>
        <p:nvSpPr>
          <p:cNvPr id="42" name="Text 26"/>
          <p:cNvSpPr/>
          <p:nvPr/>
        </p:nvSpPr>
        <p:spPr>
          <a:xfrm>
            <a:off x="4550833" y="4665861"/>
            <a:ext cx="318304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наблюдатель видит два ролика и выбирает, кто из двоих кажется, например, общительнее; из сравнений — оценка 0…1</a:t>
            </a:r>
            <a:endParaRPr lang="en-US" sz="1200" dirty="0"/>
          </a:p>
        </p:txBody>
      </p:sp>
      <p:sp>
        <p:nvSpPr>
          <p:cNvPr id="43" name="Shape 27"/>
          <p:cNvSpPr/>
          <p:nvPr/>
        </p:nvSpPr>
        <p:spPr>
          <a:xfrm>
            <a:off x="7965017" y="4242991"/>
            <a:ext cx="3407833" cy="1434902"/>
          </a:xfrm>
          <a:prstGeom prst="roundRect">
            <a:avLst>
              <a:gd name="adj" fmla="val 8408"/>
            </a:avLst>
          </a:prstGeom>
          <a:solidFill>
            <a:srgbClr val="FDFCF9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44" name="Text 28"/>
          <p:cNvSpPr/>
          <p:nvPr/>
        </p:nvSpPr>
        <p:spPr>
          <a:xfrm>
            <a:off x="8123767" y="4401741"/>
            <a:ext cx="31830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Пример: First Impressions V2</a:t>
            </a:r>
            <a:endParaRPr lang="en-US" sz="1400" dirty="0"/>
          </a:p>
        </p:txBody>
      </p:sp>
      <p:sp>
        <p:nvSpPr>
          <p:cNvPr id="45" name="Text 29"/>
          <p:cNvSpPr/>
          <p:nvPr/>
        </p:nvSpPr>
        <p:spPr>
          <a:xfrm>
            <a:off x="8123767" y="4665861"/>
            <a:ext cx="318304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10 000 роликов по 15 с; наблюдатели Amazon Mechanical Turk сравнивали пары роликов по пяти чертам</a:t>
            </a:r>
            <a:endParaRPr lang="en-US" sz="1200" dirty="0"/>
          </a:p>
        </p:txBody>
      </p:sp>
      <p:sp>
        <p:nvSpPr>
          <p:cNvPr id="46" name="Text 30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 Profiler 3.1 · анализ человека по видео · © 2026 AMLAI</a:t>
            </a:r>
            <a:endParaRPr lang="en-US" sz="1200" dirty="0"/>
          </a:p>
        </p:txBody>
      </p:sp>
      <p:sp>
        <p:nvSpPr>
          <p:cNvPr id="47" name="Text 31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 Profiler 3.1 — система и интерфейс</dc:title>
  <dc:subject>PptxGenJS Presentation</dc:subject>
  <dc:creator>PptxGenJS</dc:creator>
  <cp:lastModifiedBy>PptxGenJS</cp:lastModifiedBy>
  <cp:revision>1</cp:revision>
  <dcterms:created xsi:type="dcterms:W3CDTF">2026-09-30T08:28:37Z</dcterms:created>
  <dcterms:modified xsi:type="dcterms:W3CDTF">2026-09-30T08:28:37Z</dcterms:modified>
</cp:coreProperties>
</file>