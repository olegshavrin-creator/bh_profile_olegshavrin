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27272A"/>
                </a:solidFill>
                <a:latin typeface="Arial"/>
              </a:rPr>
              <a:t>Насколько оценка совпадает с мнением людей* (CCC, чем ближе к 1, тем лучше)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Согласованность</c:v>
                </c:pt>
              </c:strCache>
            </c:strRef>
          </c:tx>
          <c:dPt>
            <c:idx val="0"/>
            <c:spPr>
              <a:solidFill>
                <a:srgbClr val="71717A"/>
              </a:solidFill>
            </c:spPr>
          </c:dPt>
          <c:dPt>
            <c:idx val="1"/>
            <c:spPr>
              <a:solidFill>
                <a:srgbClr val="0F766E"/>
              </a:solidFill>
            </c:spPr>
          </c:dPt>
          <c:dPt>
            <c:idx val="2"/>
            <c:spPr>
              <a:solidFill>
                <a:srgbClr val="C2410C"/>
              </a:solidFill>
            </c:spPr>
          </c:dPt>
          <c:dPt>
            <c:idx val="3"/>
            <c:spPr>
              <a:solidFill>
                <a:srgbClr val="27272A"/>
              </a:solidFill>
            </c:spPr>
          </c:dPt>
          <c:cat>
            <c:strRef>
              <c:f>Sheet1!$A$2:$A$5</c:f>
              <c:strCache>
                <c:ptCount val="4"/>
                <c:pt idx="0">
                  <c:v>OCEAN-AI
(готовые веса)</c:v>
                </c:pt>
                <c:pt idx="1">
                  <c:v>Моя модель</c:v>
                </c:pt>
                <c:pt idx="2">
                  <c:v>Ансамбль двух
систем</c:v>
                </c:pt>
                <c:pt idx="3">
                  <c:v>Статья
MM-PSYCHE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0.703</c:v>
                </c:pt>
                <c:pt idx="1">
                  <c:v>0.715</c:v>
                </c:pt>
                <c:pt idx="2">
                  <c:v>0.733</c:v>
                </c:pt>
                <c:pt idx="3">
                  <c:v>0.74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100" b="1">
                  <a:solidFill>
                    <a:srgbClr val="27272A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4D4D8"/>
            </a:solidFill>
          </a:ln>
        </c:spPr>
        <c:txPr>
          <a:bodyPr/>
          <a:lstStyle/>
          <a:p>
            <a:pPr>
              <a:defRPr sz="950">
                <a:solidFill>
                  <a:srgbClr val="27272A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0.5"/>
        </c:scaling>
        <c:delete val="0"/>
        <c:axPos val="l"/>
        <c:majorGridlines>
          <c:spPr>
            <a:ln>
              <a:solidFill>
                <a:srgbClr val="D4D4D8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2525B"/>
                </a:solidFill>
                <a:latin typeface="Arial"/>
              </a:defRPr>
            </a:pPr>
          </a:p>
        </c:txPr>
        <c:crossAx val="-2068027336"/>
        <c:crosses val="autoZero"/>
        <c:majorUnit val="0.1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27272A"/>
                </a:solidFill>
                <a:latin typeface="Arial"/>
              </a:rPr>
              <a:t>Что подняло совпадение с людьми (CCC на 1997 тестовых роликах)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CCC</c:v>
                </c:pt>
              </c:strCache>
            </c:strRef>
          </c:tx>
          <c:dPt>
            <c:idx val="0"/>
            <c:spPr>
              <a:solidFill>
                <a:srgbClr val="71717A"/>
              </a:solidFill>
            </c:spPr>
          </c:dPt>
          <c:dPt>
            <c:idx val="1"/>
            <c:spPr>
              <a:solidFill>
                <a:srgbClr val="0F766E"/>
              </a:solidFill>
            </c:spPr>
          </c:dPt>
          <c:dPt>
            <c:idx val="2"/>
            <c:spPr>
              <a:solidFill>
                <a:srgbClr val="0F766E"/>
              </a:solidFill>
            </c:spPr>
          </c:dPt>
          <c:dPt>
            <c:idx val="3"/>
            <c:spPr>
              <a:solidFill>
                <a:srgbClr val="0F766E"/>
              </a:solidFill>
            </c:spPr>
          </c:dPt>
          <c:dPt>
            <c:idx val="4"/>
            <c:spPr>
              <a:solidFill>
                <a:srgbClr val="C2410C"/>
              </a:solidFill>
            </c:spPr>
          </c:dPt>
          <c:cat>
            <c:strRef>
              <c:f>Sheet1!$A$2:$A$6</c:f>
              <c:strCache>
                <c:ptCount val="5"/>
                <c:pt idx="0">
                  <c:v>OCEAN-AI
одна</c:v>
                </c:pt>
                <c:pt idx="1">
                  <c:v>Моя: только
лицо</c:v>
                </c:pt>
                <c:pt idx="2">
                  <c:v>Моя: все 4
модальности</c:v>
                </c:pt>
                <c:pt idx="3">
                  <c:v>Моя: среднее
5 запусков</c:v>
                </c:pt>
                <c:pt idx="4">
                  <c:v>Среднее
с OCEAN-AI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0.703</c:v>
                </c:pt>
                <c:pt idx="1">
                  <c:v>0.69</c:v>
                </c:pt>
                <c:pt idx="2">
                  <c:v>0.704</c:v>
                </c:pt>
                <c:pt idx="3">
                  <c:v>0.715</c:v>
                </c:pt>
                <c:pt idx="4">
                  <c:v>0.733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050" b="1">
                  <a:solidFill>
                    <a:srgbClr val="27272A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4D4D8"/>
            </a:solidFill>
          </a:ln>
        </c:spPr>
        <c:txPr>
          <a:bodyPr/>
          <a:lstStyle/>
          <a:p>
            <a:pPr>
              <a:defRPr sz="900">
                <a:solidFill>
                  <a:srgbClr val="27272A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76"/>
          <c:min val="0.6"/>
        </c:scaling>
        <c:delete val="0"/>
        <c:axPos val="l"/>
        <c:majorGridlines>
          <c:spPr>
            <a:ln>
              <a:solidFill>
                <a:srgbClr val="D4D4D8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2525B"/>
                </a:solidFill>
                <a:latin typeface="Arial"/>
              </a:defRPr>
            </a:pPr>
          </a:p>
        </c:txPr>
        <c:crossAx val="-2068027336"/>
        <c:crosses val="autoZero"/>
        <c:majorUnit val="0.04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i.org/10.1109/ACCESS.2026.3723020" TargetMode="External"/><Relationship Id="rId3" Type="http://schemas.openxmlformats.org/officeDocument/2006/relationships/hyperlink" Target="https://github.com/LEYA-HSE/MM-PSYCHE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 i="0">
                <a:solidFill>
                  <a:srgbClr val="27272A"/>
                </a:solidFill>
                <a:latin typeface="Arial"/>
              </a:rPr>
              <a:t>С чего я начал и что нашёл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52525B"/>
                </a:solidFill>
                <a:latin typeface="Arial"/>
              </a:rPr>
              <a:t>Моя задача: локальная программа «видео на входе → оценка Big Five и поведения на выходе». Разработка — в Claude Code (модель Fable 5.1, режим Ultracode)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4114800" cy="4160520"/>
          </a:xfrm>
          <a:prstGeom prst="roundRect">
            <a:avLst>
              <a:gd name="adj" fmla="val 1777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27272A"/>
                </a:solidFill>
                <a:latin typeface="Arial"/>
              </a:rPr>
              <a:t>Отправная точка — научная статья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3657600" cy="352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1" i="0">
                <a:solidFill>
                  <a:srgbClr val="27272A"/>
                </a:solidFill>
                <a:latin typeface="Arial"/>
              </a:rPr>
              <a:t>MM-PSYCHE</a:t>
            </a:r>
            <a:r>
              <a:rPr sz="1200" b="0" i="0">
                <a:solidFill>
                  <a:srgbClr val="27272A"/>
                </a:solidFill>
                <a:latin typeface="Arial"/>
              </a:rPr>
              <a:t> (LEYA-HSE, IEEE Access, 2026): личность оценивают по четырём модальностям — лицо, голос, смысл речи и текстовое описание поведения — и сводят их графовой сетью в пять черт.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1" i="0">
                <a:solidFill>
                  <a:srgbClr val="27272A"/>
                </a:solidFill>
                <a:latin typeface="Arial"/>
              </a:rPr>
              <a:t>Что было открыто: </a:t>
            </a:r>
            <a:r>
              <a:rPr sz="1200" b="0" i="0">
                <a:solidFill>
                  <a:srgbClr val="27272A"/>
                </a:solidFill>
                <a:latin typeface="Arial"/>
              </a:rPr>
              <a:t>код обучения, рецепт признаков, разметка 10 000 роликов.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1" i="0">
                <a:solidFill>
                  <a:srgbClr val="27272A"/>
                </a:solidFill>
                <a:latin typeface="Arial"/>
              </a:rPr>
              <a:t>Чего не было: </a:t>
            </a:r>
            <a:r>
              <a:rPr sz="1200" b="0" i="0">
                <a:solidFill>
                  <a:srgbClr val="27272A"/>
                </a:solidFill>
                <a:latin typeface="Arial"/>
              </a:rPr>
              <a:t>обученных весов, готовой программы «одно видео → результат», интерфейса.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1" i="0">
                <a:solidFill>
                  <a:srgbClr val="C2410C"/>
                </a:solidFill>
                <a:latin typeface="Arial"/>
              </a:rPr>
              <a:t>Моё решение: </a:t>
            </a:r>
            <a:r>
              <a:rPr sz="1200" b="0" i="0">
                <a:solidFill>
                  <a:srgbClr val="27272A"/>
                </a:solidFill>
                <a:latin typeface="Arial"/>
              </a:rPr>
              <a:t>сначала запустить готовые системы тех же авторов, затем обучить свою модель по рецепту статьи и объединить их в ансамбль.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3035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>
                <a:solidFill>
                  <a:srgbClr val="52525B"/>
                </a:solidFill>
                <a:latin typeface="Arial"/>
              </a:rPr>
              <a:t>Статья: </a:t>
            </a:r>
            <a:r>
              <a:rPr sz="950" u="sng">
                <a:solidFill>
                  <a:srgbClr val="C2410C"/>
                </a:solidFill>
                <a:latin typeface="Arial"/>
                <a:hlinkClick r:id="rId2"/>
              </a:rPr>
              <a:t>doi.org/10.1109/ACCESS.2026.3723020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>
                <a:solidFill>
                  <a:srgbClr val="52525B"/>
                </a:solidFill>
                <a:latin typeface="Arial"/>
              </a:rPr>
              <a:t>Код: </a:t>
            </a:r>
            <a:r>
              <a:rPr sz="950" u="sng">
                <a:solidFill>
                  <a:srgbClr val="C2410C"/>
                </a:solidFill>
                <a:latin typeface="Arial"/>
                <a:hlinkClick r:id="rId3"/>
              </a:rPr>
              <a:t>github.com/LEYA-HSE/MM-PSYCHE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60020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27272A"/>
                </a:solidFill>
                <a:latin typeface="Arial"/>
              </a:rPr>
              <a:t>Что я нашёл и проверил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874519"/>
            <a:ext cx="3200400" cy="1691640"/>
          </a:xfrm>
          <a:prstGeom prst="roundRect">
            <a:avLst>
              <a:gd name="adj" fmla="val 4324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5166360" y="2029967"/>
            <a:ext cx="292608" cy="29260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59552" y="2002536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27272A"/>
                </a:solidFill>
                <a:latin typeface="Arial"/>
              </a:rPr>
              <a:t>Данные: First Impressions 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2404872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52525B"/>
                </a:solidFill>
                <a:latin typeface="Arial"/>
              </a:rPr>
              <a:t>10 000 роликов по 15 с из англоязычных видеоблогов с разметкой пяти черт и метки «пригласить на собеседование». Открытое зеркало, 29 ГБ — скачал и проверил полностью.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874519"/>
            <a:ext cx="3200400" cy="1691640"/>
          </a:xfrm>
          <a:prstGeom prst="roundRect">
            <a:avLst>
              <a:gd name="adj" fmla="val 4324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8549640" y="2029967"/>
            <a:ext cx="292608" cy="292608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2832" y="2002536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27272A"/>
                </a:solidFill>
                <a:latin typeface="Arial"/>
              </a:rPr>
              <a:t>Готовая система: OCEAN-AI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404872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52525B"/>
                </a:solidFill>
                <a:latin typeface="Arial"/>
              </a:rPr>
              <a:t>Система тех же авторов с открытыми весами: аудио + видео + текст. Два набора весов — для английской речи (First Impressions V2) и для русской (корпус MuPTA).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749039"/>
            <a:ext cx="3200400" cy="1691640"/>
          </a:xfrm>
          <a:prstGeom prst="roundRect">
            <a:avLst>
              <a:gd name="adj" fmla="val 4324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5166360" y="3904487"/>
            <a:ext cx="292608" cy="29260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59552" y="3877055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27272A"/>
                </a:solidFill>
                <a:latin typeface="Arial"/>
              </a:rPr>
              <a:t>Кодировщики признаков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4279392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52525B"/>
                </a:solidFill>
                <a:latin typeface="Arial"/>
              </a:rPr>
              <a:t>Модели, которые превращают лицо, голос и текст в наборы чисел. Готовые, я их не дообучал: CLIP — лицо, CLAP — голос, EmoRoBERTa — текст, Whisper — речь в текст, Qwen-VL — описание поведения по кадрам.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3749039"/>
            <a:ext cx="3200400" cy="1691640"/>
          </a:xfrm>
          <a:prstGeom prst="roundRect">
            <a:avLst>
              <a:gd name="adj" fmla="val 4324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8549640" y="3904487"/>
            <a:ext cx="292608" cy="292608"/>
          </a:xfrm>
          <a:prstGeom prst="ellipse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42832" y="3877055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27272A"/>
                </a:solidFill>
                <a:latin typeface="Arial"/>
              </a:rPr>
              <a:t>Предшественник: SSL-MEPR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4279392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52525B"/>
                </a:solidFill>
                <a:latin typeface="Arial"/>
              </a:rPr>
              <a:t>Пять модальностей, но веса лица и тела авторы не опубликовали. Взял как ориентир по точности, не как основу.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800" y="5897880"/>
            <a:ext cx="10789920" cy="0"/>
          </a:xfrm>
          <a:prstGeom prst="line">
            <a:avLst/>
          </a:prstGeom>
          <a:ln w="25400">
            <a:solidFill>
              <a:srgbClr val="D4D4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60120" y="5815584"/>
            <a:ext cx="164592" cy="16459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" y="6035040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27272A"/>
                </a:solidFill>
                <a:latin typeface="Arial"/>
              </a:rPr>
              <a:t>11 сентября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B"/>
                </a:solidFill>
                <a:latin typeface="Arial"/>
              </a:rPr>
              <a:t>нашёл статью, изучил её и код</a:t>
            </a:r>
          </a:p>
        </p:txBody>
      </p:sp>
      <p:sp>
        <p:nvSpPr>
          <p:cNvPr id="28" name="Oval 27"/>
          <p:cNvSpPr/>
          <p:nvPr/>
        </p:nvSpPr>
        <p:spPr>
          <a:xfrm>
            <a:off x="2971800" y="5815584"/>
            <a:ext cx="164592" cy="16459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57400" y="6035040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27272A"/>
                </a:solidFill>
                <a:latin typeface="Arial"/>
              </a:rPr>
              <a:t>14 сентября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B"/>
                </a:solidFill>
                <a:latin typeface="Arial"/>
              </a:rPr>
              <a:t>техническое задание</a:t>
            </a:r>
          </a:p>
        </p:txBody>
      </p:sp>
      <p:sp>
        <p:nvSpPr>
          <p:cNvPr id="30" name="Oval 29"/>
          <p:cNvSpPr/>
          <p:nvPr/>
        </p:nvSpPr>
        <p:spPr>
          <a:xfrm>
            <a:off x="4983480" y="5815584"/>
            <a:ext cx="164592" cy="16459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69080" y="6035040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27272A"/>
                </a:solidFill>
                <a:latin typeface="Arial"/>
              </a:rPr>
              <a:t>14–15 сентября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B"/>
                </a:solidFill>
                <a:latin typeface="Arial"/>
              </a:rPr>
              <a:t>готовые веса, первый конвейер</a:t>
            </a:r>
          </a:p>
        </p:txBody>
      </p:sp>
      <p:sp>
        <p:nvSpPr>
          <p:cNvPr id="32" name="Oval 31"/>
          <p:cNvSpPr/>
          <p:nvPr/>
        </p:nvSpPr>
        <p:spPr>
          <a:xfrm>
            <a:off x="6995160" y="5815584"/>
            <a:ext cx="164592" cy="16459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60" y="6035040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27272A"/>
                </a:solidFill>
                <a:latin typeface="Arial"/>
              </a:rPr>
              <a:t>15 сентября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B"/>
                </a:solidFill>
                <a:latin typeface="Arial"/>
              </a:rPr>
              <a:t>моя модель и ансамбль</a:t>
            </a:r>
          </a:p>
        </p:txBody>
      </p:sp>
      <p:sp>
        <p:nvSpPr>
          <p:cNvPr id="34" name="Oval 33"/>
          <p:cNvSpPr/>
          <p:nvPr/>
        </p:nvSpPr>
        <p:spPr>
          <a:xfrm>
            <a:off x="9006840" y="5815584"/>
            <a:ext cx="164592" cy="16459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92440" y="6035040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27272A"/>
                </a:solidFill>
                <a:latin typeface="Arial"/>
              </a:rPr>
              <a:t>15–16 сентября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B"/>
                </a:solidFill>
                <a:latin typeface="Arial"/>
              </a:rPr>
              <a:t>русские ролики, страница, PDF</a:t>
            </a:r>
          </a:p>
        </p:txBody>
      </p:sp>
      <p:sp>
        <p:nvSpPr>
          <p:cNvPr id="36" name="Oval 35"/>
          <p:cNvSpPr/>
          <p:nvPr/>
        </p:nvSpPr>
        <p:spPr>
          <a:xfrm>
            <a:off x="11018519" y="5815584"/>
            <a:ext cx="164592" cy="16459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04119" y="6035040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27272A"/>
                </a:solidFill>
                <a:latin typeface="Arial"/>
              </a:rPr>
              <a:t>16–20 сентября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25B"/>
                </a:solidFill>
                <a:latin typeface="Arial"/>
              </a:rPr>
              <a:t>эмоции, голос, мимика, речь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71717A"/>
                </a:solidFill>
                <a:latin typeface="Arial"/>
              </a:rPr>
              <a:t>BS 2.0 · анализ человека по видео · сделано в Claude Code, модель Fable 5.1, режим Ultracode · © 2026 AMLAI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 i="0">
                <a:solidFill>
                  <a:srgbClr val="27272A"/>
                </a:solidFill>
                <a:latin typeface="Arial"/>
              </a:rPr>
              <a:t>Моя модель: что взял готовым и что обучил сам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52525B"/>
                </a:solidFill>
                <a:latin typeface="Arial"/>
              </a:rPr>
              <a:t>Ролик делится на отрезки по 20 с, каждый проходит весь конвейер; четыре взгляда на человека сводятся в одну оценку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234440" cy="3712464"/>
          </a:xfrm>
          <a:prstGeom prst="roundRect">
            <a:avLst>
              <a:gd name="adj" fmla="val 5925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234440" cy="3712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Видео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D4D4D8"/>
                </a:solidFill>
                <a:latin typeface="Arial"/>
              </a:rPr>
              <a:t>весь ролик, отрезками по 20 с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783080" y="1956816"/>
            <a:ext cx="320040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103120" y="1554480"/>
            <a:ext cx="1325880" cy="804672"/>
          </a:xfrm>
          <a:prstGeom prst="roundRect">
            <a:avLst>
              <a:gd name="adj" fmla="val 909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176272" y="1554480"/>
            <a:ext cx="1179576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Лицо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29000" y="1956816"/>
            <a:ext cx="274320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703320" y="1554480"/>
            <a:ext cx="2240280" cy="804672"/>
          </a:xfrm>
          <a:prstGeom prst="roundRect">
            <a:avLst>
              <a:gd name="adj" fmla="val 909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776472" y="1554480"/>
            <a:ext cx="2093976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7272A"/>
                </a:solidFill>
                <a:latin typeface="Arial"/>
              </a:rPr>
              <a:t>каждые 20 с: 30 кадров → поиск лица (MediaPipe)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0" y="1956816"/>
            <a:ext cx="274320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17920" y="1554480"/>
            <a:ext cx="1600200" cy="804672"/>
          </a:xfrm>
          <a:prstGeom prst="roundRect">
            <a:avLst>
              <a:gd name="adj" fmla="val 909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91072" y="1554480"/>
            <a:ext cx="1453896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27272A"/>
                </a:solidFill>
                <a:latin typeface="Arial"/>
              </a:rPr>
              <a:t>CLIP ViT-B/32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2525B"/>
                </a:solidFill>
                <a:latin typeface="Arial"/>
              </a:rPr>
              <a:t>готовые веса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8120" y="1956816"/>
            <a:ext cx="274320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092440" y="1554480"/>
            <a:ext cx="1051560" cy="804672"/>
          </a:xfrm>
          <a:prstGeom prst="roundRect">
            <a:avLst>
              <a:gd name="adj" fmla="val 909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165592" y="1554480"/>
            <a:ext cx="905255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27272A"/>
                </a:solidFill>
                <a:latin typeface="Arial"/>
              </a:rPr>
              <a:t>1024 числа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2525B"/>
                </a:solidFill>
                <a:latin typeface="Arial"/>
              </a:rPr>
              <a:t>признаки лица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0" y="1956816"/>
            <a:ext cx="320040" cy="813816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783080" y="2926079"/>
            <a:ext cx="320040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103120" y="2523744"/>
            <a:ext cx="1325880" cy="804672"/>
          </a:xfrm>
          <a:prstGeom prst="roundRect">
            <a:avLst>
              <a:gd name="adj" fmla="val 909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176272" y="2523744"/>
            <a:ext cx="1179576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Голос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429000" y="2926079"/>
            <a:ext cx="274320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703320" y="2523744"/>
            <a:ext cx="2240280" cy="804672"/>
          </a:xfrm>
          <a:prstGeom prst="roundRect">
            <a:avLst>
              <a:gd name="adj" fmla="val 909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776472" y="2523744"/>
            <a:ext cx="2093976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7272A"/>
                </a:solidFill>
                <a:latin typeface="Arial"/>
              </a:rPr>
              <a:t>каждые 20 с: звук этих 20 секунд целиком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943600" y="2926079"/>
            <a:ext cx="274320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217920" y="2523744"/>
            <a:ext cx="1600200" cy="804672"/>
          </a:xfrm>
          <a:prstGeom prst="roundRect">
            <a:avLst>
              <a:gd name="adj" fmla="val 909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291072" y="2523744"/>
            <a:ext cx="1453896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27272A"/>
                </a:solidFill>
                <a:latin typeface="Arial"/>
              </a:rPr>
              <a:t>CLAP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2525B"/>
                </a:solidFill>
                <a:latin typeface="Arial"/>
              </a:rPr>
              <a:t>готовые веса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818120" y="2926079"/>
            <a:ext cx="274320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092440" y="2523744"/>
            <a:ext cx="1051560" cy="804672"/>
          </a:xfrm>
          <a:prstGeom prst="roundRect">
            <a:avLst>
              <a:gd name="adj" fmla="val 909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165592" y="2523744"/>
            <a:ext cx="905255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27272A"/>
                </a:solidFill>
                <a:latin typeface="Arial"/>
              </a:rPr>
              <a:t>1536 чисел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2525B"/>
                </a:solidFill>
                <a:latin typeface="Arial"/>
              </a:rPr>
              <a:t>признаки голоса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44000" y="2926079"/>
            <a:ext cx="320040" cy="301753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783080" y="3895344"/>
            <a:ext cx="320040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2103120" y="3493008"/>
            <a:ext cx="1325880" cy="804672"/>
          </a:xfrm>
          <a:prstGeom prst="roundRect">
            <a:avLst>
              <a:gd name="adj" fmla="val 9090"/>
            </a:avLst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2176272" y="3493008"/>
            <a:ext cx="1179576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Смысл речи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429000" y="3895344"/>
            <a:ext cx="274320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3703320" y="3493008"/>
            <a:ext cx="2240280" cy="804672"/>
          </a:xfrm>
          <a:prstGeom prst="roundRect">
            <a:avLst>
              <a:gd name="adj" fmla="val 909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776472" y="3493008"/>
            <a:ext cx="2093976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7272A"/>
                </a:solidFill>
                <a:latin typeface="Arial"/>
              </a:rPr>
              <a:t>каждые 20 с: вся речь → Whisper → текст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943600" y="3895344"/>
            <a:ext cx="274320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217920" y="3493008"/>
            <a:ext cx="1600200" cy="804672"/>
          </a:xfrm>
          <a:prstGeom prst="roundRect">
            <a:avLst>
              <a:gd name="adj" fmla="val 909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291072" y="3493008"/>
            <a:ext cx="1453896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27272A"/>
                </a:solidFill>
                <a:latin typeface="Arial"/>
              </a:rPr>
              <a:t>EmoRoBERTa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2525B"/>
                </a:solidFill>
                <a:latin typeface="Arial"/>
              </a:rPr>
              <a:t>готовые веса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818120" y="3895344"/>
            <a:ext cx="274320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092440" y="3493008"/>
            <a:ext cx="1051560" cy="804672"/>
          </a:xfrm>
          <a:prstGeom prst="roundRect">
            <a:avLst>
              <a:gd name="adj" fmla="val 909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165592" y="3493008"/>
            <a:ext cx="905255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27272A"/>
                </a:solidFill>
                <a:latin typeface="Arial"/>
              </a:rPr>
              <a:t>1536 чисел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2525B"/>
                </a:solidFill>
                <a:latin typeface="Arial"/>
              </a:rPr>
              <a:t>признаки текста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9144000" y="3685032"/>
            <a:ext cx="320040" cy="210312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783080" y="4864608"/>
            <a:ext cx="320040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2103120" y="4462272"/>
            <a:ext cx="1325880" cy="804672"/>
          </a:xfrm>
          <a:prstGeom prst="roundRect">
            <a:avLst>
              <a:gd name="adj" fmla="val 9090"/>
            </a:avLst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2176272" y="4462272"/>
            <a:ext cx="1179576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Поведение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429000" y="4864608"/>
            <a:ext cx="274320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3703320" y="4462272"/>
            <a:ext cx="2240280" cy="804672"/>
          </a:xfrm>
          <a:prstGeom prst="roundRect">
            <a:avLst>
              <a:gd name="adj" fmla="val 909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3776472" y="4462272"/>
            <a:ext cx="2093976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7272A"/>
                </a:solidFill>
                <a:latin typeface="Arial"/>
              </a:rPr>
              <a:t>каждые 20 с: 16 кадров → Qwen-VL пишет, что делает человек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943600" y="4864608"/>
            <a:ext cx="274320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6217920" y="4462272"/>
            <a:ext cx="1600200" cy="804672"/>
          </a:xfrm>
          <a:prstGeom prst="roundRect">
            <a:avLst>
              <a:gd name="adj" fmla="val 909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291072" y="4462272"/>
            <a:ext cx="1453896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27272A"/>
                </a:solidFill>
                <a:latin typeface="Arial"/>
              </a:rPr>
              <a:t>EmoRoBERTa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2525B"/>
                </a:solidFill>
                <a:latin typeface="Arial"/>
              </a:rPr>
              <a:t>готовые веса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818120" y="4864608"/>
            <a:ext cx="274320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8092440" y="4462272"/>
            <a:ext cx="1051560" cy="804672"/>
          </a:xfrm>
          <a:prstGeom prst="roundRect">
            <a:avLst>
              <a:gd name="adj" fmla="val 909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165592" y="4462272"/>
            <a:ext cx="905255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27272A"/>
                </a:solidFill>
                <a:latin typeface="Arial"/>
              </a:rPr>
              <a:t>1536 чисел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2525B"/>
                </a:solidFill>
                <a:latin typeface="Arial"/>
              </a:rPr>
              <a:t>признаки описания</a:t>
            </a:r>
          </a:p>
        </p:txBody>
      </p:sp>
      <p:cxnSp>
        <p:nvCxnSpPr>
          <p:cNvPr id="57" name="Connector 56"/>
          <p:cNvCxnSpPr/>
          <p:nvPr/>
        </p:nvCxnSpPr>
        <p:spPr>
          <a:xfrm flipV="1">
            <a:off x="9144000" y="4142232"/>
            <a:ext cx="320040" cy="722376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9464040" y="2240280"/>
            <a:ext cx="2148840" cy="2514600"/>
          </a:xfrm>
          <a:prstGeom prst="roundRect">
            <a:avLst>
              <a:gd name="adj" fmla="val 3404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9464040" y="2240280"/>
            <a:ext cx="2148840" cy="2514600"/>
          </a:xfrm>
          <a:prstGeom prst="rect">
            <a:avLst/>
          </a:prstGeom>
          <a:noFill/>
        </p:spPr>
        <p:txBody>
          <a:bodyPr wrap="square" anchor="ctr" tIns="91440" bIns="9144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</a:rPr>
              <a:t>Графовое слияние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обучил я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7272A"/>
                </a:solidFill>
                <a:latin typeface="Arial"/>
              </a:rPr>
              <a:t/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четыре набора признаков сводятся вместе с учётом связей между ними (графовое и перекрёстное внимание)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0533888" y="4754880"/>
            <a:ext cx="0" cy="22860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9464040" y="4983480"/>
            <a:ext cx="2148840" cy="685800"/>
          </a:xfrm>
          <a:prstGeom prst="roundRect">
            <a:avLst>
              <a:gd name="adj" fmla="val 10666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9537192" y="4983480"/>
            <a:ext cx="2002536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Big Five + «собеседование»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D4D4D8"/>
                </a:solidFill>
                <a:latin typeface="Arial"/>
              </a:rPr>
              <a:t>шесть чисел от 0 до 1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48640" y="5440680"/>
            <a:ext cx="274320" cy="201168"/>
          </a:xfrm>
          <a:prstGeom prst="roundRect">
            <a:avLst>
              <a:gd name="adj" fmla="val 36363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896112" y="539496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2525B"/>
                </a:solidFill>
                <a:latin typeface="Arial"/>
              </a:rPr>
              <a:t>голубой — готовые веса, не дообучались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840480" y="5440680"/>
            <a:ext cx="274320" cy="201168"/>
          </a:xfrm>
          <a:prstGeom prst="roundRect">
            <a:avLst>
              <a:gd name="adj" fmla="val 36363"/>
            </a:avLst>
          </a:prstGeom>
          <a:solidFill>
            <a:srgbClr val="F4F4F5"/>
          </a:solidFill>
          <a:ln w="12700">
            <a:solidFill>
              <a:srgbClr val="D4D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4187952" y="539496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2525B"/>
                </a:solidFill>
                <a:latin typeface="Arial"/>
              </a:rPr>
              <a:t>светло-серый — подготовка данных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949440" y="5440680"/>
            <a:ext cx="274320" cy="201168"/>
          </a:xfrm>
          <a:prstGeom prst="roundRect">
            <a:avLst>
              <a:gd name="adj" fmla="val 36363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7296912" y="539496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2525B"/>
                </a:solidFill>
                <a:latin typeface="Arial"/>
              </a:rPr>
              <a:t>оранжевый — обучил я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571500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 i="0">
                <a:solidFill>
                  <a:srgbClr val="27272A"/>
                </a:solidFill>
                <a:latin typeface="Arial"/>
              </a:rPr>
              <a:t>Что такое «1024 числа»: </a:t>
            </a:r>
            <a:r>
              <a:rPr sz="1050" b="0" i="0">
                <a:solidFill>
                  <a:srgbClr val="27272A"/>
                </a:solidFill>
                <a:latin typeface="Arial"/>
              </a:rPr>
              <a:t>кодировщик сжимает лицо, голос или текст каждого 20-секундного отрезка в набор чисел фиксированной длины; слияние работает только с этими наборами. </a:t>
            </a:r>
            <a:r>
              <a:rPr sz="1050" b="1" i="0">
                <a:solidFill>
                  <a:srgbClr val="27272A"/>
                </a:solidFill>
                <a:latin typeface="Arial"/>
              </a:rPr>
              <a:t>Как обучал: </a:t>
            </a:r>
            <a:r>
              <a:rPr sz="1050" b="0" i="0">
                <a:solidFill>
                  <a:srgbClr val="27272A"/>
                </a:solidFill>
                <a:latin typeface="Arial"/>
              </a:rPr>
              <a:t>на 6000 роликах First Impressions V2, пять запусков и усреднение; ансамбль с OCEAN-AI точнее любой из двух систем.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 i="0">
                <a:solidFill>
                  <a:srgbClr val="C2410C"/>
                </a:solidFill>
                <a:latin typeface="Arial"/>
              </a:rPr>
              <a:t>Почему не всё с нуля: </a:t>
            </a:r>
            <a:r>
              <a:rPr sz="1050" b="0" i="0">
                <a:solidFill>
                  <a:srgbClr val="27272A"/>
                </a:solidFill>
                <a:latin typeface="Arial"/>
              </a:rPr>
              <a:t>обучить собственные кодировщики лица, голоса и текста можно, но для этого нужны десятки тысяч размеченных роликов. Открытых размеченных данных хватает только на слияние — его я и обучил.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71717A"/>
                </a:solidFill>
                <a:latin typeface="Arial"/>
              </a:rPr>
              <a:t>BS 2.0 · анализ человека по видео · сделано в Claude Code, модель Fable 5.1, режим Ultracode · © 2026 AMLAI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 i="0">
                <a:solidFill>
                  <a:srgbClr val="27272A"/>
                </a:solidFill>
                <a:latin typeface="Arial"/>
              </a:rPr>
              <a:t>Конвейер сегодня: от ролика до отчёта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52525B"/>
                </a:solidFill>
                <a:latin typeface="Arial"/>
              </a:rPr>
              <a:t>Один проход по ролику даёт оценку личности, эмоции, голос, мимику и манеру речи на общей оси времени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51760"/>
            <a:ext cx="1463040" cy="1188720"/>
          </a:xfrm>
          <a:prstGeom prst="roundRect">
            <a:avLst>
              <a:gd name="adj" fmla="val 6153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21792" y="2651760"/>
            <a:ext cx="1316736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Ролик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D4D4D8"/>
                </a:solidFill>
                <a:latin typeface="Arial"/>
              </a:rPr>
              <a:t>любой длины, речь русская или английская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11680" y="3246120"/>
            <a:ext cx="274320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286000" y="2651760"/>
            <a:ext cx="1737360" cy="1188720"/>
          </a:xfrm>
          <a:prstGeom prst="roundRect">
            <a:avLst>
              <a:gd name="adj" fmla="val 6153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359152" y="2651760"/>
            <a:ext cx="1591056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7272A"/>
                </a:solidFill>
                <a:latin typeface="Arial"/>
              </a:rPr>
              <a:t>Отрезки по 20 с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2525B"/>
                </a:solidFill>
                <a:latin typeface="Arial"/>
              </a:rPr>
              <a:t>весь ролик без пропусков; Whisper распознаёт речь с метками времени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54480"/>
            <a:ext cx="3566160" cy="713232"/>
          </a:xfrm>
          <a:prstGeom prst="roundRect">
            <a:avLst>
              <a:gd name="adj" fmla="val 10256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581144" y="1673352"/>
            <a:ext cx="146304" cy="14630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818888" y="1600200"/>
            <a:ext cx="30632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27272A"/>
                </a:solidFill>
                <a:latin typeface="Arial"/>
              </a:rPr>
              <a:t>Big Five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144" y="1883664"/>
            <a:ext cx="32918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2525B"/>
                </a:solidFill>
                <a:latin typeface="Arial"/>
              </a:rPr>
              <a:t>каждые 20 с: OCEAN-AI (лицо 5 кадров в секунду, голос, текст) + моя модель — основная оценка и второе мнение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4023360" y="1911095"/>
            <a:ext cx="411480" cy="1335025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434840" y="2377440"/>
            <a:ext cx="3566160" cy="713232"/>
          </a:xfrm>
          <a:prstGeom prst="roundRect">
            <a:avLst>
              <a:gd name="adj" fmla="val 10256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4581144" y="2496312"/>
            <a:ext cx="146304" cy="146304"/>
          </a:xfrm>
          <a:prstGeom prst="ellipse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818888" y="2423160"/>
            <a:ext cx="30632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27272A"/>
                </a:solidFill>
                <a:latin typeface="Arial"/>
              </a:rPr>
              <a:t>Эмоции по смыслу речи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706624"/>
            <a:ext cx="32918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2525B"/>
                </a:solidFill>
                <a:latin typeface="Arial"/>
              </a:rPr>
              <a:t>каждые 20 с: EmoRoBERTa читает сказанное → семь эмоций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4023360" y="2734056"/>
            <a:ext cx="411480" cy="512064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434840" y="3200400"/>
            <a:ext cx="3566160" cy="713232"/>
          </a:xfrm>
          <a:prstGeom prst="roundRect">
            <a:avLst>
              <a:gd name="adj" fmla="val 10256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4581144" y="3319272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818888" y="3246120"/>
            <a:ext cx="30632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27272A"/>
                </a:solidFill>
                <a:latin typeface="Arial"/>
              </a:rPr>
              <a:t>Голос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144" y="3529584"/>
            <a:ext cx="32918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2525B"/>
                </a:solidFill>
                <a:latin typeface="Arial"/>
              </a:rPr>
              <a:t>каждые 20 с: wav2vec2 слушает голос → возбуждение, уверенность, позитивность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023360" y="3246120"/>
            <a:ext cx="411480" cy="310896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434840" y="4023360"/>
            <a:ext cx="3566160" cy="713232"/>
          </a:xfrm>
          <a:prstGeom prst="roundRect">
            <a:avLst>
              <a:gd name="adj" fmla="val 10256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4581144" y="4142232"/>
            <a:ext cx="146304" cy="14630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818888" y="4069080"/>
            <a:ext cx="30632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27272A"/>
                </a:solidFill>
                <a:latin typeface="Arial"/>
              </a:rPr>
              <a:t>Мимика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1144" y="4352544"/>
            <a:ext cx="32918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2525B"/>
                </a:solidFill>
                <a:latin typeface="Arial"/>
              </a:rPr>
              <a:t>каждые 20 с: 12 кадров → выражение лица (7 классов) + движение головы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023360" y="3246120"/>
            <a:ext cx="411480" cy="1133856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434840" y="4846320"/>
            <a:ext cx="3566160" cy="713232"/>
          </a:xfrm>
          <a:prstGeom prst="roundRect">
            <a:avLst>
              <a:gd name="adj" fmla="val 10256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4581144" y="4965192"/>
            <a:ext cx="146304" cy="146304"/>
          </a:xfrm>
          <a:prstGeom prst="ellipse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818888" y="4892040"/>
            <a:ext cx="30632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27272A"/>
                </a:solidFill>
                <a:latin typeface="Arial"/>
              </a:rPr>
              <a:t>Манера речи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5175504"/>
            <a:ext cx="32918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2525B"/>
                </a:solidFill>
                <a:latin typeface="Arial"/>
              </a:rPr>
              <a:t>по всему транскрипту: темп, паузы, слова-заполнители, длина фразы, словарь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023360" y="3246120"/>
            <a:ext cx="411480" cy="1956816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0" y="155448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485632" y="1554480"/>
            <a:ext cx="3054096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7272A"/>
                </a:solidFill>
                <a:latin typeface="Arial"/>
              </a:rPr>
              <a:t>Объяснения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2525B"/>
                </a:solidFill>
                <a:latin typeface="Arial"/>
              </a:rPr>
              <a:t>ключевые кадры, вклад каждой модальности, слова, повлиявшие на оценку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0" y="288036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485632" y="2880360"/>
            <a:ext cx="3054096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7272A"/>
                </a:solidFill>
                <a:latin typeface="Arial"/>
              </a:rPr>
              <a:t>Понятный русский текст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2525B"/>
                </a:solidFill>
                <a:latin typeface="Arial"/>
              </a:rPr>
              <a:t>краткие выводы из чисел; описания и транскрипт переводит локальная языковая модель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12480" y="4206240"/>
            <a:ext cx="3200400" cy="1463040"/>
          </a:xfrm>
          <a:prstGeom prst="roundRect">
            <a:avLst>
              <a:gd name="adj" fmla="val 5000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485632" y="4206240"/>
            <a:ext cx="3054096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Страница и печатный отчёт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D4D4D8"/>
                </a:solidFill>
                <a:latin typeface="Arial"/>
              </a:rPr>
              <a:t>графики по ходу ролика, тепловая карта эмоций, профиль Big Five, второе мнение, PDF на 7 страниц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001000" y="1911095"/>
            <a:ext cx="274320" cy="0"/>
          </a:xfrm>
          <a:prstGeom prst="line">
            <a:avLst/>
          </a:prstGeom>
          <a:ln w="19050">
            <a:solidFill>
              <a:srgbClr val="7171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001000" y="2734056"/>
            <a:ext cx="274320" cy="0"/>
          </a:xfrm>
          <a:prstGeom prst="line">
            <a:avLst/>
          </a:prstGeom>
          <a:ln w="19050">
            <a:solidFill>
              <a:srgbClr val="7171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001000" y="3557016"/>
            <a:ext cx="274320" cy="0"/>
          </a:xfrm>
          <a:prstGeom prst="line">
            <a:avLst/>
          </a:prstGeom>
          <a:ln w="19050">
            <a:solidFill>
              <a:srgbClr val="7171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001000" y="4379976"/>
            <a:ext cx="274320" cy="0"/>
          </a:xfrm>
          <a:prstGeom prst="line">
            <a:avLst/>
          </a:prstGeom>
          <a:ln w="19050">
            <a:solidFill>
              <a:srgbClr val="7171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001000" y="5202936"/>
            <a:ext cx="274320" cy="0"/>
          </a:xfrm>
          <a:prstGeom prst="line">
            <a:avLst/>
          </a:prstGeom>
          <a:ln w="19050">
            <a:solidFill>
              <a:srgbClr val="7171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275320" y="1911095"/>
            <a:ext cx="0" cy="3291841"/>
          </a:xfrm>
          <a:prstGeom prst="line">
            <a:avLst/>
          </a:prstGeom>
          <a:ln w="19050">
            <a:solidFill>
              <a:srgbClr val="7171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275320" y="2121408"/>
            <a:ext cx="137160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275320" y="3447288"/>
            <a:ext cx="137160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275320" y="4937760"/>
            <a:ext cx="137160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012680" y="2697480"/>
            <a:ext cx="0" cy="18288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012680" y="4023360"/>
            <a:ext cx="0" cy="18288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48640" y="576072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 i="0">
                <a:solidFill>
                  <a:srgbClr val="27272A"/>
                </a:solidFill>
                <a:latin typeface="Arial"/>
              </a:rPr>
              <a:t>Как смотрю ролик: </a:t>
            </a:r>
            <a:r>
              <a:rPr sz="1050" b="0" i="0">
                <a:solidFill>
                  <a:srgbClr val="27272A"/>
                </a:solidFill>
                <a:latin typeface="Arial"/>
              </a:rPr>
              <a:t>целиком, без пропусков, отрезками по 20 с. Внутри отрезка: лицо — 30 кадров для моей модели и 5 кадров в секунду для OCEAN-AI, описание поведения — по 16 кадрам, мимика — по 12 кадрам, звук и речь — полностью.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 i="0">
                <a:solidFill>
                  <a:srgbClr val="27272A"/>
                </a:solidFill>
                <a:latin typeface="Arial"/>
              </a:rPr>
              <a:t>Всё локально: </a:t>
            </a:r>
            <a:r>
              <a:rPr sz="1050" b="0" i="0">
                <a:solidFill>
                  <a:srgbClr val="27272A"/>
                </a:solidFill>
                <a:latin typeface="Arial"/>
              </a:rPr>
              <a:t>одна видеокарта, данные не покидают компьютер. Обработка занимает примерно столько же, сколько длится ролик.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71717A"/>
                </a:solidFill>
                <a:latin typeface="Arial"/>
              </a:rPr>
              <a:t>BS 2.0 · анализ человека по видео · сделано в Claude Code, модель Fable 5.1, режим Ultracode · © 2026 AMLAI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 i="0">
                <a:solidFill>
                  <a:srgbClr val="27272A"/>
                </a:solidFill>
                <a:latin typeface="Arial"/>
              </a:rPr>
              <a:t>Что получилось к сегодняшнему дню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52525B"/>
                </a:solidFill>
                <a:latin typeface="Arial"/>
              </a:rPr>
              <a:t>Рабочая система с проверенной точностью и понятным отчётом на русском языке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 i="0">
                <a:solidFill>
                  <a:srgbClr val="C2410C"/>
                </a:solidFill>
                <a:latin typeface="Arial"/>
              </a:rPr>
              <a:t>0.927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2148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52525B"/>
                </a:solidFill>
                <a:latin typeface="Arial"/>
              </a:rPr>
              <a:t>точность ансамбля** на тестовой части First Impressions V2; в статье — 0.918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46304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429000" y="1536192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 i="0">
                <a:solidFill>
                  <a:srgbClr val="C2410C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194560"/>
            <a:ext cx="2148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52525B"/>
                </a:solidFill>
                <a:latin typeface="Arial"/>
              </a:rPr>
              <a:t>русских роликов обработано целиком,
создана опорная группа для сравнения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3090672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 i="0">
                <a:solidFill>
                  <a:srgbClr val="C2410C"/>
                </a:solidFill>
                <a:latin typeface="Arial"/>
              </a:rPr>
              <a:t>5 + 4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39"/>
            <a:ext cx="2148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52525B"/>
                </a:solidFill>
                <a:latin typeface="Arial"/>
              </a:rPr>
              <a:t>черт Big Five и дополнительных
измерений: эмоции, голос, мимика, речь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301752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429000" y="3090672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 i="0">
                <a:solidFill>
                  <a:srgbClr val="C2410C"/>
                </a:solidFill>
                <a:latin typeface="Arial"/>
              </a:rPr>
              <a:t>≈ 1×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749039"/>
            <a:ext cx="2148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52525B"/>
                </a:solidFill>
                <a:latin typeface="Arial"/>
              </a:rPr>
              <a:t>время обработки к длине ролика:
шестиминутный ролик — около 7 минут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5943600" y="1371600"/>
          <a:ext cx="566928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48640" y="4480560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52525B"/>
                </a:solidFill>
                <a:latin typeface="Arial"/>
              </a:rPr>
              <a:t>* График построен на тестовой части First Impressions V2: 1997 роликов по 15 с, каждый заранее оценён по пяти чертам группой наблюдателей. Для каждого ролика я сравнил оценки системы с оценками людей; CCC учитывает и уровень, и порядок оценок. Число для статьи — из публикации MM-PSYCHE. Ось начинается с 0.5, чтобы различия были видны.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 i="0">
                <a:solidFill>
                  <a:srgbClr val="52525B"/>
                </a:solidFill>
                <a:latin typeface="Arial"/>
              </a:rPr>
              <a:t>** 0.927 = 1 − средняя ошибка: на тех же 1997 роликах оценка ансамбля отличалась от оценки людей в среднем на 0.073 балла по шкале от 0 до 1 (среднее по пяти чертам). У статьи MM-PSYCHE тот же показатель — 0.918.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749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27272A"/>
                </a:solidFill>
                <a:latin typeface="Arial"/>
              </a:rPr>
              <a:t>Что человек получает по каждому ролику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39496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58368" y="5504688"/>
            <a:ext cx="109728" cy="109728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1247" y="544982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27272A"/>
                </a:solidFill>
                <a:latin typeface="Arial"/>
              </a:rPr>
              <a:t>Профиль Big Five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779008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2525B"/>
                </a:solidFill>
                <a:latin typeface="Arial"/>
              </a:rPr>
              <a:t>оценка и второе мнение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14016" y="539496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2523744" y="5504688"/>
            <a:ext cx="109728" cy="109728"/>
          </a:xfrm>
          <a:prstGeom prst="ellipse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706624" y="544982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27272A"/>
                </a:solidFill>
                <a:latin typeface="Arial"/>
              </a:rPr>
              <a:t>Эмоции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23744" y="5779008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2525B"/>
                </a:solidFill>
                <a:latin typeface="Arial"/>
              </a:rPr>
              <a:t>по речи и по лицу, по ходу ролика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79392" y="539496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4389120" y="5504688"/>
            <a:ext cx="109728" cy="10972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0" y="544982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27272A"/>
                </a:solidFill>
                <a:latin typeface="Arial"/>
              </a:rPr>
              <a:t>Голос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5779008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2525B"/>
                </a:solidFill>
                <a:latin typeface="Arial"/>
              </a:rPr>
              <a:t>возбуждение, уверенность, позитивность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44768" y="539496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6254496" y="5504688"/>
            <a:ext cx="109728" cy="109728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37376" y="544982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27272A"/>
                </a:solidFill>
                <a:latin typeface="Arial"/>
              </a:rPr>
              <a:t>Мимика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54496" y="5779008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2525B"/>
                </a:solidFill>
                <a:latin typeface="Arial"/>
              </a:rPr>
              <a:t>выражения лица, движение головы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10144" y="539496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8119871" y="5504688"/>
            <a:ext cx="109728" cy="109728"/>
          </a:xfrm>
          <a:prstGeom prst="ellipse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302752" y="544982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27272A"/>
                </a:solidFill>
                <a:latin typeface="Arial"/>
              </a:rPr>
              <a:t>Манера речи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19871" y="5779008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2525B"/>
                </a:solidFill>
                <a:latin typeface="Arial"/>
              </a:rPr>
              <a:t>темп, паузы, частые слова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75519" y="539496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9985247" y="5504688"/>
            <a:ext cx="109728" cy="109728"/>
          </a:xfrm>
          <a:prstGeom prst="ellipse">
            <a:avLst/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0168128" y="544982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27272A"/>
                </a:solidFill>
                <a:latin typeface="Arial"/>
              </a:rPr>
              <a:t>Объяснения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85247" y="5779008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2525B"/>
                </a:solidFill>
                <a:latin typeface="Arial"/>
              </a:rPr>
              <a:t>кадры, вклад модальностей, слова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71717A"/>
                </a:solidFill>
                <a:latin typeface="Arial"/>
              </a:rPr>
              <a:t>BS 2.0 · анализ человека по видео · сделано в Claude Code, модель Fable 5.1, режим Ultracode · © 2026 AMLAI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 i="0">
                <a:solidFill>
                  <a:srgbClr val="27272A"/>
                </a:solidFill>
                <a:latin typeface="Arial"/>
              </a:rPr>
              <a:t>Как нам дальше улучшить систему?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52525B"/>
                </a:solidFill>
                <a:latin typeface="Arial"/>
              </a:rPr>
              <a:t>Девяти роликов хватило, чтобы запустить систему, но не чтобы сверить её с мнением людей и настроить. Вот что для этого нужно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520440" cy="3657600"/>
          </a:xfrm>
          <a:prstGeom prst="roundRect">
            <a:avLst>
              <a:gd name="adj" fmla="val 2077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31520" y="1755648"/>
            <a:ext cx="365760" cy="365760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7" y="1737360"/>
            <a:ext cx="2697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27272A"/>
                </a:solidFill>
                <a:latin typeface="Arial"/>
              </a:rPr>
              <a:t>Ролики и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3118104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00" b="1" i="0">
                <a:solidFill>
                  <a:srgbClr val="C2410C"/>
                </a:solidFill>
                <a:latin typeface="Arial"/>
              </a:rPr>
              <a:t>•  </a:t>
            </a:r>
            <a:r>
              <a:rPr sz="1200" b="0" i="0">
                <a:solidFill>
                  <a:srgbClr val="27272A"/>
                </a:solidFill>
                <a:latin typeface="Arial"/>
              </a:rPr>
              <a:t>Записать ещё ролики: человек говорит в камеру, лицо крупно, русская речь, 3–10 минут, разные люди и условия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00" b="1" i="0">
                <a:solidFill>
                  <a:srgbClr val="C2410C"/>
                </a:solidFill>
                <a:latin typeface="Arial"/>
              </a:rPr>
              <a:t>•  </a:t>
            </a:r>
            <a:r>
              <a:rPr sz="1200" b="0" i="0">
                <a:solidFill>
                  <a:srgbClr val="27272A"/>
                </a:solidFill>
                <a:latin typeface="Arial"/>
              </a:rPr>
              <a:t>30 роликов — сравнение систем; 100 — калибровка шкалы; от 300 — дообучение на русском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00" b="1" i="0">
                <a:solidFill>
                  <a:srgbClr val="C2410C"/>
                </a:solidFill>
                <a:latin typeface="Arial"/>
              </a:rPr>
              <a:t>•  </a:t>
            </a:r>
            <a:r>
              <a:rPr sz="1200" b="0" i="0">
                <a:solidFill>
                  <a:srgbClr val="27272A"/>
                </a:solidFill>
                <a:latin typeface="Arial"/>
              </a:rPr>
              <a:t>Согласие участников на обработку и хранение видео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00" b="1" i="0">
                <a:solidFill>
                  <a:srgbClr val="C2410C"/>
                </a:solidFill>
                <a:latin typeface="Arial"/>
              </a:rPr>
              <a:t>•  </a:t>
            </a:r>
            <a:r>
              <a:rPr sz="1200" b="0" i="0">
                <a:solidFill>
                  <a:srgbClr val="27272A"/>
                </a:solidFill>
                <a:latin typeface="Arial"/>
              </a:rPr>
              <a:t>Письмо авторам: корпус MuPTA (русская речь, выдаётся по запросу) и веса SSL-MEPR для лица и тела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554480"/>
            <a:ext cx="3520440" cy="3657600"/>
          </a:xfrm>
          <a:prstGeom prst="roundRect">
            <a:avLst>
              <a:gd name="adj" fmla="val 2077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4498848" y="1755648"/>
            <a:ext cx="365760" cy="365760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74336" y="1737360"/>
            <a:ext cx="2697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27272A"/>
                </a:solidFill>
                <a:latin typeface="Arial"/>
              </a:rPr>
              <a:t>Оценки живых людей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7136" y="2331720"/>
            <a:ext cx="3118104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00" b="1" i="0">
                <a:solidFill>
                  <a:srgbClr val="C2410C"/>
                </a:solidFill>
                <a:latin typeface="Arial"/>
              </a:rPr>
              <a:t>•  </a:t>
            </a:r>
            <a:r>
              <a:rPr sz="1200" b="0" i="0">
                <a:solidFill>
                  <a:srgbClr val="27272A"/>
                </a:solidFill>
                <a:latin typeface="Arial"/>
              </a:rPr>
              <a:t>Каждый ролик смотрят не меньше трёх человек, не знакомых с тем, кто в кадре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00" b="1" i="0">
                <a:solidFill>
                  <a:srgbClr val="C2410C"/>
                </a:solidFill>
                <a:latin typeface="Arial"/>
              </a:rPr>
              <a:t>•  </a:t>
            </a:r>
            <a:r>
              <a:rPr sz="1200" b="0" i="0">
                <a:solidFill>
                  <a:srgbClr val="27272A"/>
                </a:solidFill>
                <a:latin typeface="Arial"/>
              </a:rPr>
              <a:t>Пять черт по шкале 1–7: «каким этот человек кажется», плюс «пригласил бы на собеседование»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00" b="1" i="0">
                <a:solidFill>
                  <a:srgbClr val="C2410C"/>
                </a:solidFill>
                <a:latin typeface="Arial"/>
              </a:rPr>
              <a:t>•  </a:t>
            </a:r>
            <a:r>
              <a:rPr sz="1200" b="0" i="0">
                <a:solidFill>
                  <a:srgbClr val="27272A"/>
                </a:solidFill>
                <a:latin typeface="Arial"/>
              </a:rPr>
              <a:t>Одна короткая инструкция для всех, оценки не обсуждаются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00" b="1" i="0">
                <a:solidFill>
                  <a:srgbClr val="C2410C"/>
                </a:solidFill>
                <a:latin typeface="Arial"/>
              </a:rPr>
              <a:t>•  </a:t>
            </a:r>
            <a:r>
              <a:rPr sz="1200" b="0" i="0">
                <a:solidFill>
                  <a:srgbClr val="27272A"/>
                </a:solidFill>
                <a:latin typeface="Arial"/>
              </a:rPr>
              <a:t>Единая таблица разметки; согласие оценщиков между собой — мера того, чего вообще можно достичь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554480"/>
            <a:ext cx="3520440" cy="3657600"/>
          </a:xfrm>
          <a:prstGeom prst="roundRect">
            <a:avLst>
              <a:gd name="adj" fmla="val 2077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266175" y="1755648"/>
            <a:ext cx="365760" cy="365760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1664" y="1737360"/>
            <a:ext cx="2697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27272A"/>
                </a:solidFill>
                <a:latin typeface="Arial"/>
              </a:rPr>
              <a:t>Разметка профайлера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2331720"/>
            <a:ext cx="3118104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00" b="1" i="0">
                <a:solidFill>
                  <a:srgbClr val="C2410C"/>
                </a:solidFill>
                <a:latin typeface="Arial"/>
              </a:rPr>
              <a:t>•  </a:t>
            </a:r>
            <a:r>
              <a:rPr sz="1200" b="0" i="0">
                <a:solidFill>
                  <a:srgbClr val="27272A"/>
                </a:solidFill>
                <a:latin typeface="Arial"/>
              </a:rPr>
              <a:t>Время начала и конца каждого эпизода (не скриншоты) — в программе разметки или в таблице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00" b="1" i="0">
                <a:solidFill>
                  <a:srgbClr val="C2410C"/>
                </a:solidFill>
                <a:latin typeface="Arial"/>
              </a:rPr>
              <a:t>•  </a:t>
            </a:r>
            <a:r>
              <a:rPr sz="1200" b="0" i="0">
                <a:solidFill>
                  <a:srgbClr val="27272A"/>
                </a:solidFill>
                <a:latin typeface="Arial"/>
              </a:rPr>
              <a:t>Размечен весь ролик или заданные отрезки, включая отметки «ничего заметного»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00" b="1" i="0">
                <a:solidFill>
                  <a:srgbClr val="C2410C"/>
                </a:solidFill>
                <a:latin typeface="Arial"/>
              </a:rPr>
              <a:t>•  </a:t>
            </a:r>
            <a:r>
              <a:rPr sz="1200" b="0" i="0">
                <a:solidFill>
                  <a:srgbClr val="27272A"/>
                </a:solidFill>
                <a:latin typeface="Arial"/>
              </a:rPr>
              <a:t>Определения паттернов («влево» — с точки зрения говорящего или зрителя), сила эпизода 1–3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200" b="1" i="0">
                <a:solidFill>
                  <a:srgbClr val="C2410C"/>
                </a:solidFill>
                <a:latin typeface="Arial"/>
              </a:rPr>
              <a:t>•  </a:t>
            </a:r>
            <a:r>
              <a:rPr sz="1200" b="0" i="0">
                <a:solidFill>
                  <a:srgbClr val="27272A"/>
                </a:solidFill>
                <a:latin typeface="Arial"/>
              </a:rPr>
              <a:t>Второй разметчик на 20–30 % материала; ориентир — 30 эпизодов на паттерн у 10 человек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440680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C2410C"/>
                </a:solidFill>
                <a:latin typeface="Arial"/>
              </a:rPr>
              <a:t>Что это даст: </a:t>
            </a:r>
            <a:r>
              <a:rPr sz="1100" b="0" i="0">
                <a:solidFill>
                  <a:srgbClr val="27272A"/>
                </a:solidFill>
                <a:latin typeface="Arial"/>
              </a:rPr>
              <a:t>измерить точность на русскоязычных роликах и выбрать шкалу, откалибровать оценки под мнение людей, проверить эмоции, голос и мимику, настроить поиск поведенческих паттернов.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C2410C"/>
                </a:solidFill>
                <a:latin typeface="Arial"/>
              </a:rPr>
              <a:t>Собственная модель для русской речи </a:t>
            </a:r>
            <a:r>
              <a:rPr sz="1100" b="0" i="0">
                <a:solidFill>
                  <a:srgbClr val="27272A"/>
                </a:solidFill>
                <a:latin typeface="Arial"/>
              </a:rPr>
              <a:t>возможна, но только на большом числе размеченных роликов: от 300 — дообучение, тысячи — обучение с нуля. Поэтому данные и разметка сейчас важнее любого нового кода.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71717A"/>
                </a:solidFill>
                <a:latin typeface="Arial"/>
              </a:rPr>
              <a:t>BS 2.0 · анализ человека по видео · сделано в Claude Code, модель Fable 5.1, режим Ultracode · © 2026 AMLAI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 i="0">
                <a:solidFill>
                  <a:srgbClr val="27272A"/>
                </a:solidFill>
                <a:latin typeface="Arial"/>
              </a:rPr>
              <a:t>Моя модель: как обучал и что подняло точность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52525B"/>
                </a:solidFill>
                <a:latin typeface="Arial"/>
              </a:rPr>
              <a:t>Обучение и проверка — на First Impressions V2; точность — совпадение с оценками людей на роликах, которых модель не видела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27272A"/>
                </a:solidFill>
                <a:latin typeface="Arial"/>
              </a:rPr>
              <a:t>Данные: 10 000 роликов по 15 с, заранее разделены составителями набора на три части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0512"/>
            <a:ext cx="6600139" cy="420624"/>
          </a:xfrm>
          <a:prstGeom prst="roundRect">
            <a:avLst>
              <a:gd name="adj" fmla="val 13043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1810512"/>
            <a:ext cx="66001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Обучение — 6000 роликов (шаг 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94499" y="1810512"/>
            <a:ext cx="2200046" cy="420624"/>
          </a:xfrm>
          <a:prstGeom prst="roundRect">
            <a:avLst>
              <a:gd name="adj" fmla="val 13043"/>
            </a:avLst>
          </a:prstGeom>
          <a:solidFill>
            <a:srgbClr val="717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94499" y="1810512"/>
            <a:ext cx="220004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Проверка — 2000 (шаг 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40265" y="1810512"/>
            <a:ext cx="2200046" cy="420624"/>
          </a:xfrm>
          <a:prstGeom prst="roundRect">
            <a:avLst>
              <a:gd name="adj" fmla="val 13043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440265" y="1810512"/>
            <a:ext cx="220004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Тест — 2000 (шаг 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04288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52525B"/>
                </a:solidFill>
                <a:latin typeface="Arial"/>
              </a:rPr>
              <a:t>Англоязычные блогеры говорят в камеру. Оценки людей: наблюдатели на Amazon Mechanical Turk сравнивали пары роликов («кто из двоих кажется общительнее»), из сравнений получена оценка от 0 до 1 по пяти чертам и «собеседованию».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3464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27272A"/>
                </a:solidFill>
                <a:latin typeface="Arial"/>
              </a:rPr>
              <a:t>Как шло обучение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200400"/>
            <a:ext cx="292608" cy="292608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182112"/>
            <a:ext cx="47548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27272A"/>
                </a:solidFill>
                <a:latin typeface="Arial"/>
              </a:rPr>
              <a:t>Признаки — один раз. </a:t>
            </a:r>
            <a:r>
              <a:rPr sz="1000" b="0" i="0">
                <a:solidFill>
                  <a:srgbClr val="52525B"/>
                </a:solidFill>
                <a:latin typeface="Arial"/>
              </a:rPr>
              <a:t>Готовые модели превратили все 10 000 роликов в наборы чисел за 48 минут; сами они не менялись.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657600"/>
            <a:ext cx="292608" cy="292608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639312"/>
            <a:ext cx="47548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27272A"/>
                </a:solidFill>
                <a:latin typeface="Arial"/>
              </a:rPr>
              <a:t>Обучение слияния </a:t>
            </a:r>
            <a:r>
              <a:rPr sz="1000" b="0" i="0">
                <a:solidFill>
                  <a:srgbClr val="52525B"/>
                </a:solidFill>
                <a:latin typeface="Arial"/>
              </a:rPr>
              <a:t>на 5992 роликах: сеть выдаёт шесть оценок, сравнивает их с оценками людей и уменьшает ошибку.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114800"/>
            <a:ext cx="292608" cy="292608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096512"/>
            <a:ext cx="47548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27272A"/>
                </a:solidFill>
                <a:latin typeface="Arial"/>
              </a:rPr>
              <a:t>Выбор лучшей эпохи </a:t>
            </a:r>
            <a:r>
              <a:rPr sz="1000" b="0" i="0">
                <a:solidFill>
                  <a:srgbClr val="52525B"/>
                </a:solidFill>
                <a:latin typeface="Arial"/>
              </a:rPr>
              <a:t>по проверочной части; если 15 эпох подряд лучше не становится — стоп.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72000"/>
            <a:ext cx="292608" cy="292608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553712"/>
            <a:ext cx="47548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27272A"/>
                </a:solidFill>
                <a:latin typeface="Arial"/>
              </a:rPr>
              <a:t>Пять запусков </a:t>
            </a:r>
            <a:r>
              <a:rPr sz="1000" b="0" i="0">
                <a:solidFill>
                  <a:srgbClr val="52525B"/>
                </a:solidFill>
                <a:latin typeface="Arial"/>
              </a:rPr>
              <a:t>с разными случайными начальными весами, их оценки усредняются.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5029200"/>
            <a:ext cx="292608" cy="292608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010912"/>
            <a:ext cx="47548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27272A"/>
                </a:solidFill>
                <a:latin typeface="Arial"/>
              </a:rPr>
              <a:t>Тест — один раз, в конце: </a:t>
            </a:r>
            <a:r>
              <a:rPr sz="1000" b="0" i="0">
                <a:solidFill>
                  <a:srgbClr val="52525B"/>
                </a:solidFill>
                <a:latin typeface="Arial"/>
              </a:rPr>
              <a:t>1997 роликов, которых модель не видела; OCEAN-AI проверена на тех же роликах. На тесте ничего не подбиралось.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5989320" y="2788920"/>
          <a:ext cx="5669280" cy="2194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080760" y="5001768"/>
            <a:ext cx="5532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900" b="1" i="0">
                <a:solidFill>
                  <a:srgbClr val="52525B"/>
                </a:solidFill>
                <a:latin typeface="Arial"/>
              </a:rPr>
              <a:t>Голос, текст и описание </a:t>
            </a:r>
            <a:r>
              <a:rPr sz="900" b="0" i="0">
                <a:solidFill>
                  <a:srgbClr val="52525B"/>
                </a:solidFill>
                <a:latin typeface="Arial"/>
              </a:rPr>
              <a:t>вместе добавили к лицу около 0.014, каждый по отдельности — в пределах случайного разброса. </a:t>
            </a:r>
            <a:r>
              <a:rPr sz="900" b="1" i="0">
                <a:solidFill>
                  <a:srgbClr val="52525B"/>
                </a:solidFill>
                <a:latin typeface="Arial"/>
              </a:rPr>
              <a:t>Пять запусков </a:t>
            </a:r>
            <a:r>
              <a:rPr sz="900" b="0" i="0">
                <a:solidFill>
                  <a:srgbClr val="52525B"/>
                </a:solidFill>
                <a:latin typeface="Arial"/>
              </a:rPr>
              <a:t>— ещё около 0.01. </a:t>
            </a:r>
            <a:r>
              <a:rPr sz="900" b="1" i="0">
                <a:solidFill>
                  <a:srgbClr val="C2410C"/>
                </a:solidFill>
                <a:latin typeface="Arial"/>
              </a:rPr>
              <a:t>Сложение с OCEAN-AI </a:t>
            </a:r>
            <a:r>
              <a:rPr sz="900" b="0" i="0">
                <a:solidFill>
                  <a:srgbClr val="52525B"/>
                </a:solidFill>
                <a:latin typeface="Arial"/>
              </a:rPr>
              <a:t>— +0.018, самый большой шаг. Ось начинается с 0.6.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559552"/>
            <a:ext cx="5440680" cy="804672"/>
          </a:xfrm>
          <a:prstGeom prst="roundRect">
            <a:avLst>
              <a:gd name="adj" fmla="val 909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13232" y="5596128"/>
            <a:ext cx="5120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C2410C"/>
                </a:solidFill>
                <a:latin typeface="Arial"/>
              </a:rPr>
              <a:t>Проверка, что это не случайность. </a:t>
            </a:r>
            <a:r>
              <a:rPr sz="950" b="0" i="0">
                <a:solidFill>
                  <a:srgbClr val="27272A"/>
                </a:solidFill>
                <a:latin typeface="Arial"/>
              </a:rPr>
              <a:t>5000 раз перевыбрал тестовые ролики: ансамбль лучше OCEAN-AI во всех 5000 случаях, CCC +0.031 (от +0.024 до +0.037), рост у всех пяти черт. По средней ошибке выигрыш надёжный, но маленький: 0.0745 → 0.0726.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2" y="5559552"/>
            <a:ext cx="5440680" cy="804672"/>
          </a:xfrm>
          <a:prstGeom prst="roundRect">
            <a:avLst>
              <a:gd name="adj" fmla="val 9090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364224" y="5596128"/>
            <a:ext cx="5120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C2410C"/>
                </a:solidFill>
                <a:latin typeface="Arial"/>
              </a:rPr>
              <a:t>Чего эти цифры не говорят. </a:t>
            </a:r>
            <a:r>
              <a:rPr sz="950" b="0" i="0">
                <a:solidFill>
                  <a:srgbClr val="27272A"/>
                </a:solidFill>
                <a:latin typeface="Arial"/>
              </a:rPr>
              <a:t>Это английские 15-секундные ролики с расшифровками речи, сделанными людьми; в программе расшифровка от Whisper и описания от Qwen2.5-VL стоят 0.1–0.3 п.п. точности. Для русской речи основная оценка сейчас — OCEAN-AI с весами MuPTA, моя модель — второе мнение.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71717A"/>
                </a:solidFill>
                <a:latin typeface="Arial"/>
              </a:rPr>
              <a:t>BS 2.0 · анализ человека по видео · сделано в Claude Code, модель Fable 5.1, режим Ultracode · © 2026 AMLAI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 i="0">
                <a:solidFill>
                  <a:srgbClr val="27272A"/>
                </a:solidFill>
                <a:latin typeface="Arial"/>
              </a:rPr>
              <a:t>OCEAN-AI: как она смотрит ролик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52525B"/>
                </a:solidFill>
                <a:latin typeface="Arial"/>
              </a:rPr>
              <a:t>Готовая система авторов из СПб ФИЦ РАН: ролик раскладывается на кадры, звук и текст, у каждого потока своя сеть, в конце — слияние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81328"/>
            <a:ext cx="1051560" cy="603504"/>
          </a:xfrm>
          <a:prstGeom prst="roundRect">
            <a:avLst>
              <a:gd name="adj" fmla="val 12121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21792" y="1481328"/>
            <a:ext cx="905255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Лицо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83080" y="1481328"/>
            <a:ext cx="2240280" cy="603504"/>
          </a:xfrm>
          <a:prstGeom prst="roundRect">
            <a:avLst>
              <a:gd name="adj" fmla="val 12121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856231" y="1481328"/>
            <a:ext cx="2093976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27272A"/>
                </a:solidFill>
                <a:latin typeface="Arial"/>
              </a:rPr>
              <a:t>5 кадров в секунду → 468 точек лица (MediaPipe FaceMesh)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481328"/>
            <a:ext cx="2514600" cy="603504"/>
          </a:xfrm>
          <a:prstGeom prst="roundRect">
            <a:avLst>
              <a:gd name="adj" fmla="val 12121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279392" y="1481328"/>
            <a:ext cx="2368296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27272A"/>
                </a:solidFill>
                <a:latin typeface="Arial"/>
              </a:rPr>
              <a:t>расстояния между точками + картинка лица через ResNet50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1481328"/>
            <a:ext cx="1874519" cy="603504"/>
          </a:xfrm>
          <a:prstGeom prst="roundRect">
            <a:avLst>
              <a:gd name="adj" fmla="val 12121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976872" y="1481328"/>
            <a:ext cx="1728216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27272A"/>
                </a:solidFill>
                <a:latin typeface="Arial"/>
              </a:rPr>
              <a:t>LSTM по окнам 2 с: видит, как меняется мимика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2525B"/>
                </a:solidFill>
                <a:latin typeface="Arial"/>
              </a:rPr>
              <a:t>готовые веса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27632" y="1783080"/>
            <a:ext cx="128016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050792" y="1783080"/>
            <a:ext cx="128015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748272" y="1783080"/>
            <a:ext cx="128016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805672" y="1783080"/>
            <a:ext cx="219456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8640" y="2231136"/>
            <a:ext cx="1051560" cy="603504"/>
          </a:xfrm>
          <a:prstGeom prst="roundRect">
            <a:avLst>
              <a:gd name="adj" fmla="val 12121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1792" y="2231136"/>
            <a:ext cx="905255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Голос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83080" y="2231136"/>
            <a:ext cx="2240280" cy="603504"/>
          </a:xfrm>
          <a:prstGeom prst="roundRect">
            <a:avLst>
              <a:gd name="adj" fmla="val 12121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856231" y="2231136"/>
            <a:ext cx="2093976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27272A"/>
                </a:solidFill>
                <a:latin typeface="Arial"/>
              </a:rPr>
              <a:t>звук ролика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2231136"/>
            <a:ext cx="2514600" cy="603504"/>
          </a:xfrm>
          <a:prstGeom prst="roundRect">
            <a:avLst>
              <a:gd name="adj" fmla="val 12121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79392" y="2231136"/>
            <a:ext cx="2368296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27272A"/>
                </a:solidFill>
                <a:latin typeface="Arial"/>
              </a:rPr>
              <a:t>openSMILE (высота, громкость, тембр) + спектрограмма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2231136"/>
            <a:ext cx="1874519" cy="603504"/>
          </a:xfrm>
          <a:prstGeom prst="roundRect">
            <a:avLst>
              <a:gd name="adj" fmla="val 12121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976872" y="2231136"/>
            <a:ext cx="1728216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27272A"/>
                </a:solidFill>
                <a:latin typeface="Arial"/>
              </a:rPr>
              <a:t>сеть по окнам 2 с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2525B"/>
                </a:solidFill>
                <a:latin typeface="Arial"/>
              </a:rPr>
              <a:t>готовые веса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627632" y="2532888"/>
            <a:ext cx="128016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050792" y="2532888"/>
            <a:ext cx="128015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748272" y="2532888"/>
            <a:ext cx="128016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805672" y="2532888"/>
            <a:ext cx="219456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48640" y="2980944"/>
            <a:ext cx="1051560" cy="603504"/>
          </a:xfrm>
          <a:prstGeom prst="roundRect">
            <a:avLst>
              <a:gd name="adj" fmla="val 12121"/>
            </a:avLst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21792" y="2980944"/>
            <a:ext cx="905255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Речь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783080" y="2980944"/>
            <a:ext cx="2240280" cy="603504"/>
          </a:xfrm>
          <a:prstGeom prst="roundRect">
            <a:avLst>
              <a:gd name="adj" fmla="val 12121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856231" y="2980944"/>
            <a:ext cx="2093976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27272A"/>
                </a:solidFill>
                <a:latin typeface="Arial"/>
              </a:rPr>
              <a:t>Whisper → текст; русский переводится на английский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06240" y="2980944"/>
            <a:ext cx="2514600" cy="603504"/>
          </a:xfrm>
          <a:prstGeom prst="roundRect">
            <a:avLst>
              <a:gd name="adj" fmla="val 12121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279392" y="2980944"/>
            <a:ext cx="2368296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27272A"/>
                </a:solidFill>
                <a:latin typeface="Arial"/>
              </a:rPr>
              <a:t>BERT + словарные признаки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03720" y="2980944"/>
            <a:ext cx="1874519" cy="603504"/>
          </a:xfrm>
          <a:prstGeom prst="roundRect">
            <a:avLst>
              <a:gd name="adj" fmla="val 12121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976872" y="2980944"/>
            <a:ext cx="1728216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27272A"/>
                </a:solidFill>
                <a:latin typeface="Arial"/>
              </a:rPr>
              <a:t>сеть по тексту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2525B"/>
                </a:solidFill>
                <a:latin typeface="Arial"/>
              </a:rPr>
              <a:t>готовые веса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627632" y="3282696"/>
            <a:ext cx="128016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050792" y="3282696"/>
            <a:ext cx="128015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748272" y="3282696"/>
            <a:ext cx="128016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805672" y="3282696"/>
            <a:ext cx="219456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052560" y="1481328"/>
            <a:ext cx="1325880" cy="2103120"/>
          </a:xfrm>
          <a:prstGeom prst="roundRect">
            <a:avLst>
              <a:gd name="adj" fmla="val 5517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125712" y="1481328"/>
            <a:ext cx="1179576" cy="2103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7272A"/>
                </a:solidFill>
                <a:latin typeface="Arial"/>
              </a:rPr>
              <a:t>Слияние трёх потоков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2525B"/>
                </a:solidFill>
                <a:latin typeface="Arial"/>
              </a:rPr>
              <a:t>готовые веса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607040" y="2167128"/>
            <a:ext cx="1005840" cy="731520"/>
          </a:xfrm>
          <a:prstGeom prst="roundRect">
            <a:avLst>
              <a:gd name="adj" fmla="val 10000"/>
            </a:avLst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0680192" y="2167128"/>
            <a:ext cx="85953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Big Five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Arial"/>
              </a:rPr>
              <a:t>5 черт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0405872" y="2532888"/>
            <a:ext cx="173736" cy="0"/>
          </a:xfrm>
          <a:prstGeom prst="line">
            <a:avLst/>
          </a:prstGeom>
          <a:ln w="19050">
            <a:solidFill>
              <a:srgbClr val="7171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548640" y="3749039"/>
            <a:ext cx="274320" cy="182880"/>
          </a:xfrm>
          <a:prstGeom prst="roundRect">
            <a:avLst>
              <a:gd name="adj" fmla="val 4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96112" y="370332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2525B"/>
                </a:solidFill>
                <a:latin typeface="Arial"/>
              </a:rPr>
              <a:t>голубой — готовые веса авторов, я их не дообучал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46320" y="3749039"/>
            <a:ext cx="274320" cy="182880"/>
          </a:xfrm>
          <a:prstGeom prst="roundRect">
            <a:avLst>
              <a:gd name="adj" fmla="val 40000"/>
            </a:avLst>
          </a:prstGeom>
          <a:solidFill>
            <a:srgbClr val="F4F4F5"/>
          </a:solidFill>
          <a:ln w="12700">
            <a:solidFill>
              <a:srgbClr val="D4D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5193792" y="370332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2525B"/>
                </a:solidFill>
                <a:latin typeface="Arial"/>
              </a:rPr>
              <a:t>светло-серый — подготовка данных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393192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27272A"/>
                </a:solidFill>
                <a:latin typeface="Arial"/>
              </a:rPr>
              <a:t>Чем она отличается от моей модели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548640" y="4242816"/>
          <a:ext cx="6720840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1560"/>
                <a:gridCol w="2834640"/>
                <a:gridCol w="283464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272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OCEAN-AI · готовые веса</a:t>
                      </a:r>
                    </a:p>
                  </a:txBody>
                  <a:tcPr marL="73152" marR="73152" marT="27432" marB="27432" anchor="ctr"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Моя модель · обучил я</a:t>
                      </a:r>
                    </a:p>
                  </a:txBody>
                  <a:tcPr marL="73152" marR="73152" marT="27432" marB="27432" anchor="ctr">
                    <a:solidFill>
                      <a:srgbClr val="C2410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7272A"/>
                          </a:solidFill>
                          <a:latin typeface="Arial"/>
                        </a:rPr>
                        <a:t>Кадры</a:t>
                      </a:r>
                    </a:p>
                  </a:txBody>
                  <a:tcPr marL="73152" marR="73152" marT="27432" marB="27432" anchor="ctr">
                    <a:solidFill>
                      <a:srgbClr val="F4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7272A"/>
                          </a:solidFill>
                          <a:latin typeface="Arial"/>
                        </a:rPr>
                        <a:t>5 в секунду — 75 на 15-секундный ролик</a:t>
                      </a:r>
                    </a:p>
                  </a:txBody>
                  <a:tcPr marL="73152" marR="73152" marT="27432" marB="27432" anchor="ctr"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7272A"/>
                          </a:solidFill>
                          <a:latin typeface="Arial"/>
                        </a:rPr>
                        <a:t>30 на ролик — 2 в секунду</a:t>
                      </a:r>
                    </a:p>
                  </a:txBody>
                  <a:tcPr marL="73152" marR="73152" marT="27432" marB="27432" anchor="ctr">
                    <a:solidFill>
                      <a:srgbClr val="FFEDD5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7272A"/>
                          </a:solidFill>
                          <a:latin typeface="Arial"/>
                        </a:rPr>
                        <a:t>Лицо</a:t>
                      </a:r>
                    </a:p>
                  </a:txBody>
                  <a:tcPr marL="73152" marR="73152" marT="27432" marB="27432" anchor="ctr">
                    <a:solidFill>
                      <a:srgbClr val="F4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7272A"/>
                          </a:solidFill>
                          <a:latin typeface="Arial"/>
                        </a:rPr>
                        <a:t>468 точек лица и картинка лица через ResNet50</a:t>
                      </a:r>
                    </a:p>
                  </a:txBody>
                  <a:tcPr marL="73152" marR="73152" marT="27432" marB="27432" anchor="ctr"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7272A"/>
                          </a:solidFill>
                          <a:latin typeface="Arial"/>
                        </a:rPr>
                        <a:t>вырезанное лицо через CLIP</a:t>
                      </a:r>
                    </a:p>
                  </a:txBody>
                  <a:tcPr marL="73152" marR="73152" marT="27432" marB="27432" anchor="ctr">
                    <a:solidFill>
                      <a:srgbClr val="FFEDD5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7272A"/>
                          </a:solidFill>
                          <a:latin typeface="Arial"/>
                        </a:rPr>
                        <a:t>Движение</a:t>
                      </a:r>
                    </a:p>
                  </a:txBody>
                  <a:tcPr marL="73152" marR="73152" marT="27432" marB="27432" anchor="ctr">
                    <a:solidFill>
                      <a:srgbClr val="F4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7272A"/>
                          </a:solidFill>
                          <a:latin typeface="Arial"/>
                        </a:rPr>
                        <a:t>окна по 2 с: сеть видит порядок кадров</a:t>
                      </a:r>
                    </a:p>
                  </a:txBody>
                  <a:tcPr marL="73152" marR="73152" marT="27432" marB="27432" anchor="ctr"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7272A"/>
                          </a:solidFill>
                          <a:latin typeface="Arial"/>
                        </a:rPr>
                        <a:t>среднее и разброс по кадрам, порядок не учитывается</a:t>
                      </a:r>
                    </a:p>
                  </a:txBody>
                  <a:tcPr marL="73152" marR="73152" marT="27432" marB="27432" anchor="ctr">
                    <a:solidFill>
                      <a:srgbClr val="FFEDD5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7272A"/>
                          </a:solidFill>
                          <a:latin typeface="Arial"/>
                        </a:rPr>
                        <a:t>Голос</a:t>
                      </a:r>
                    </a:p>
                  </a:txBody>
                  <a:tcPr marL="73152" marR="73152" marT="27432" marB="27432" anchor="ctr">
                    <a:solidFill>
                      <a:srgbClr val="F4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7272A"/>
                          </a:solidFill>
                          <a:latin typeface="Arial"/>
                        </a:rPr>
                        <a:t>openSMILE и спектрограмма</a:t>
                      </a:r>
                    </a:p>
                  </a:txBody>
                  <a:tcPr marL="73152" marR="73152" marT="27432" marB="27432" anchor="ctr"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7272A"/>
                          </a:solidFill>
                          <a:latin typeface="Arial"/>
                        </a:rPr>
                        <a:t>весь звук через CLAP</a:t>
                      </a:r>
                    </a:p>
                  </a:txBody>
                  <a:tcPr marL="73152" marR="73152" marT="27432" marB="27432" anchor="ctr">
                    <a:solidFill>
                      <a:srgbClr val="FFEDD5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7272A"/>
                          </a:solidFill>
                          <a:latin typeface="Arial"/>
                        </a:rPr>
                        <a:t>Речь</a:t>
                      </a:r>
                    </a:p>
                  </a:txBody>
                  <a:tcPr marL="73152" marR="73152" marT="27432" marB="27432" anchor="ctr">
                    <a:solidFill>
                      <a:srgbClr val="F4F4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7272A"/>
                          </a:solidFill>
                          <a:latin typeface="Arial"/>
                        </a:rPr>
                        <a:t>текст через BERT; русский переводится на английский</a:t>
                      </a:r>
                    </a:p>
                  </a:txBody>
                  <a:tcPr marL="73152" marR="73152" marT="27432" marB="27432" anchor="ctr">
                    <a:solidFill>
                      <a:srgbClr val="DBEAF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7272A"/>
                          </a:solidFill>
                          <a:latin typeface="Arial"/>
                        </a:rPr>
                        <a:t>текст и описание поведения (Qwen-VL) через EmoRoBERTa</a:t>
                      </a:r>
                    </a:p>
                  </a:txBody>
                  <a:tcPr marL="73152" marR="73152" marT="27432" marB="27432" anchor="ctr">
                    <a:solidFill>
                      <a:srgbClr val="FFEDD5"/>
                    </a:solidFill>
                  </a:tcPr>
                </a:tc>
              </a:tr>
            </a:tbl>
          </a:graphicData>
        </a:graphic>
      </p:graphicFrame>
      <p:sp>
        <p:nvSpPr>
          <p:cNvPr id="51" name="Rounded Rectangle 50"/>
          <p:cNvSpPr/>
          <p:nvPr/>
        </p:nvSpPr>
        <p:spPr>
          <a:xfrm>
            <a:off x="7543800" y="3959352"/>
            <a:ext cx="4069080" cy="1051560"/>
          </a:xfrm>
          <a:prstGeom prst="roundRect">
            <a:avLst>
              <a:gd name="adj" fmla="val 6956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708392" y="4005072"/>
            <a:ext cx="374903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C2410C"/>
                </a:solidFill>
                <a:latin typeface="Arial"/>
              </a:rPr>
              <a:t>Кто обучал. </a:t>
            </a:r>
            <a:r>
              <a:rPr sz="950" b="0" i="0">
                <a:solidFill>
                  <a:srgbClr val="27272A"/>
                </a:solidFill>
                <a:latin typeface="Arial"/>
              </a:rPr>
              <a:t>Авторы OCEAN-AI из СПб ФИЦ РАН. Веса FIV2 обучены на английских роликах First Impressions V2, веса MuPTA — на русском корпусе MuPTA. Я беру их как есть: английская речь — FIV2, русская — MuPTA.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543800" y="5120640"/>
            <a:ext cx="4069080" cy="1051560"/>
          </a:xfrm>
          <a:prstGeom prst="roundRect">
            <a:avLst>
              <a:gd name="adj" fmla="val 6956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708392" y="5166359"/>
            <a:ext cx="374903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 i="0">
                <a:solidFill>
                  <a:srgbClr val="C2410C"/>
                </a:solidFill>
                <a:latin typeface="Arial"/>
              </a:rPr>
              <a:t>Почему среднее двух систем точнее. </a:t>
            </a:r>
            <a:r>
              <a:rPr sz="950" b="0" i="0">
                <a:solidFill>
                  <a:srgbClr val="27272A"/>
                </a:solidFill>
                <a:latin typeface="Arial"/>
              </a:rPr>
              <a:t>OCEAN-AI видит движение мимики и точную геометрию лица, моя модель — общий облик лица и словесное описание поведения. Ошибки совпадают не полностью (корреляция 0.72–0.84), поэтому в среднем часть из них гасится.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71717A"/>
                </a:solidFill>
                <a:latin typeface="Arial"/>
              </a:rPr>
              <a:t>BS 2.0 · анализ человека по видео · сделано в Claude Code, модель Fable 5.1, режим Ultracode · © 2026 AMLAI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