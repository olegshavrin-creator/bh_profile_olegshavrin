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27272A"/>
                </a:solidFill>
                <a:latin typeface="Arial"/>
              </a:rPr>
              <a:t>Насколько оценка совпадает с мнением людей* (CCC, чем ближе к 1, тем лучше)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Согласованность</c:v>
                </c:pt>
              </c:strCache>
            </c:strRef>
          </c:tx>
          <c:dPt>
            <c:idx val="0"/>
            <c:spPr>
              <a:solidFill>
                <a:srgbClr val="71717A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C2410C"/>
              </a:solidFill>
            </c:spPr>
          </c:dPt>
          <c:dPt>
            <c:idx val="3"/>
            <c:spPr>
              <a:solidFill>
                <a:srgbClr val="27272A"/>
              </a:solidFill>
            </c:spPr>
          </c:dPt>
          <c:cat>
            <c:strRef>
              <c:f>Sheet1!$A$2:$A$5</c:f>
              <c:strCache>
                <c:ptCount val="4"/>
                <c:pt idx="0">
                  <c:v>OCEAN-AI
(готовые веса)</c:v>
                </c:pt>
                <c:pt idx="1">
                  <c:v>Моя модель</c:v>
                </c:pt>
                <c:pt idx="2">
                  <c:v>Ансамбль двух
систем</c:v>
                </c:pt>
                <c:pt idx="3">
                  <c:v>Статья
MM-PSYCHE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0.703</c:v>
                </c:pt>
                <c:pt idx="1">
                  <c:v>0.715</c:v>
                </c:pt>
                <c:pt idx="2">
                  <c:v>0.733</c:v>
                </c:pt>
                <c:pt idx="3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727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4D4D8"/>
            </a:solidFill>
          </a:ln>
        </c:spPr>
        <c:txPr>
          <a:bodyPr/>
          <a:lstStyle/>
          <a:p>
            <a:pPr>
              <a:defRPr sz="950">
                <a:solidFill>
                  <a:srgbClr val="27272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5"/>
        </c:scaling>
        <c:delete val="0"/>
        <c:axPos val="l"/>
        <c:majorGridlines>
          <c:spPr>
            <a:ln>
              <a:solidFill>
                <a:srgbClr val="D4D4D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2525B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ACCESS.2026.3723020" TargetMode="External"/><Relationship Id="rId3" Type="http://schemas.openxmlformats.org/officeDocument/2006/relationships/hyperlink" Target="https://github.com/LEYA-HSE/MM-PSYCH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 чего я начал и что нашёл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Моя задача: локальная программа «видео на входе → оценка Big Five и поведения на выходе». Разработка — в Claude Code (модель Fable 5.1, режим Ultracode)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4114800" cy="4160520"/>
          </a:xfrm>
          <a:prstGeom prst="roundRect">
            <a:avLst>
              <a:gd name="adj" fmla="val 17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Отправная точка — научная статья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65760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MM-PSYCHE</a:t>
            </a:r>
            <a:r>
              <a:rPr sz="1200" b="0" i="0">
                <a:solidFill>
                  <a:srgbClr val="27272A"/>
                </a:solidFill>
                <a:latin typeface="Arial"/>
              </a:rPr>
              <a:t> (LEYA-HSE, IEEE Access, 2026): личность оценивают по четырём модальностям — лицо, голос, смысл речи и текстовое описание поведения — и сводят их графовой сетью в пять черт.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Что было открыто: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код обучения, рецепт признаков, разметка 10 000 роликов.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Чего не было: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обученных весов, готовой программы «одно видео → результат», интерфейса.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Моё решение: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сначала запустить готовые системы тех же авторов, затем обучить свою модель по рецепту статьи и объединить их в ансамбль.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035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2525B"/>
                </a:solidFill>
                <a:latin typeface="Arial"/>
              </a:rPr>
              <a:t>Статья: </a:t>
            </a:r>
            <a:r>
              <a:rPr sz="950" u="sng">
                <a:solidFill>
                  <a:srgbClr val="C2410C"/>
                </a:solidFill>
                <a:latin typeface="Arial"/>
                <a:hlinkClick r:id="rId2"/>
              </a:rPr>
              <a:t>doi.org/10.1109/ACCESS.2026.3723020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2525B"/>
                </a:solidFill>
                <a:latin typeface="Arial"/>
              </a:rPr>
              <a:t>Код: </a:t>
            </a:r>
            <a:r>
              <a:rPr sz="950" u="sng">
                <a:solidFill>
                  <a:srgbClr val="C2410C"/>
                </a:solidFill>
                <a:latin typeface="Arial"/>
                <a:hlinkClick r:id="rId3"/>
              </a:rPr>
              <a:t>github.com/LEYA-HSE/MM-PSYCHE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Что я нашёл и проверил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166360" y="2029967"/>
            <a:ext cx="292608" cy="29260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955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Данные: First Impressions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10 000 роликов по 15 с из англоязычных видеоблогов с разметкой пяти черт и метки «пригласить на собеседование». Открытое зеркало, 29 ГБ — скачал и проверил полностью.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029967"/>
            <a:ext cx="292608" cy="29260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283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Готовая система: OCEAN-AI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Система тех же авторов с открытыми весами: аудио + видео + текст. Два набора весов — для английской речи (First Impressions V2) и для русской (корпус MuPTA).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166360" y="3904487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Кодировщики признаков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Модели, которые превращают лицо, голос и текст в наборы чисел. Готовые, я их не дообучал: CLIP — лицо, CLAP — голос, EmoRoBERTa — текст, Whisper — речь в текст, Qwen-VL — описание поведения по кадрам.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549640" y="3904487"/>
            <a:ext cx="292608" cy="29260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Предшественник: SSL-MEPR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Пять модальностей, но веса лица и тела авторы не опубликовали. Взял как ориентир по точности, не как основу.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897880"/>
            <a:ext cx="10789920" cy="0"/>
          </a:xfrm>
          <a:prstGeom prst="line">
            <a:avLst/>
          </a:prstGeom>
          <a:ln w="25400">
            <a:solidFill>
              <a:srgbClr val="D4D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6012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11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нашёл статью, изучил её и код</a:t>
            </a:r>
          </a:p>
        </p:txBody>
      </p:sp>
      <p:sp>
        <p:nvSpPr>
          <p:cNvPr id="28" name="Oval 27"/>
          <p:cNvSpPr/>
          <p:nvPr/>
        </p:nvSpPr>
        <p:spPr>
          <a:xfrm>
            <a:off x="297180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техническое задание</a:t>
            </a:r>
          </a:p>
        </p:txBody>
      </p:sp>
      <p:sp>
        <p:nvSpPr>
          <p:cNvPr id="30" name="Oval 29"/>
          <p:cNvSpPr/>
          <p:nvPr/>
        </p:nvSpPr>
        <p:spPr>
          <a:xfrm>
            <a:off x="498348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6908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14–15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готовые веса, первый конвейер</a:t>
            </a:r>
          </a:p>
        </p:txBody>
      </p:sp>
      <p:sp>
        <p:nvSpPr>
          <p:cNvPr id="32" name="Oval 31"/>
          <p:cNvSpPr/>
          <p:nvPr/>
        </p:nvSpPr>
        <p:spPr>
          <a:xfrm>
            <a:off x="699516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моя модель и ансамбль</a:t>
            </a:r>
          </a:p>
        </p:txBody>
      </p:sp>
      <p:sp>
        <p:nvSpPr>
          <p:cNvPr id="34" name="Oval 33"/>
          <p:cNvSpPr/>
          <p:nvPr/>
        </p:nvSpPr>
        <p:spPr>
          <a:xfrm>
            <a:off x="900684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15–16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русские ролики, страница, PDF</a:t>
            </a:r>
          </a:p>
        </p:txBody>
      </p:sp>
      <p:sp>
        <p:nvSpPr>
          <p:cNvPr id="36" name="Oval 35"/>
          <p:cNvSpPr/>
          <p:nvPr/>
        </p:nvSpPr>
        <p:spPr>
          <a:xfrm>
            <a:off x="11018519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19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16–20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эмоции, голос, мимика, речь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Моя модель: что взял готовым и что обучил сам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Ролик делится на отрезки по 20 с, каждый проходит весь конвейер; четыре взгляда на человека сводятся в одну оценку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234440" cy="3712464"/>
          </a:xfrm>
          <a:prstGeom prst="roundRect">
            <a:avLst>
              <a:gd name="adj" fmla="val 592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234440" cy="3712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Видео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весь ролик, отрезками по 20 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1956816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03120" y="1554480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76272" y="1554480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Лицо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290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1554480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76472" y="1554480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7272A"/>
                </a:solidFill>
                <a:latin typeface="Arial"/>
              </a:rPr>
              <a:t>каждые 20 с: 30 кадров → поиск лица (MediaPipe)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554480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91072" y="1554480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CLIP ViT-B/32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812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92440" y="1554480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5592" y="1554480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1024 числа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2525B"/>
                </a:solidFill>
                <a:latin typeface="Arial"/>
              </a:rPr>
              <a:t>признаки лица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0" y="1956816"/>
            <a:ext cx="320040" cy="813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83080" y="2926079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03120" y="2523744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76272" y="2523744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Голос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290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2523744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76472" y="2523744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7272A"/>
                </a:solidFill>
                <a:latin typeface="Arial"/>
              </a:rPr>
              <a:t>каждые 20 с: звук этих 20 секунд целиком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2523744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2523744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CLAP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92440" y="2523744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2523744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1536 чисел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2525B"/>
                </a:solidFill>
                <a:latin typeface="Arial"/>
              </a:rPr>
              <a:t>признаки голоса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2926079"/>
            <a:ext cx="320040" cy="301753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3895344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103120" y="3493008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76272" y="3493008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Смысл речи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290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703320" y="3493008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776472" y="3493008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7272A"/>
                </a:solidFill>
                <a:latin typeface="Arial"/>
              </a:rPr>
              <a:t>каждые 20 с: вся речь → Whisper → текст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0" y="3493008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91072" y="3493008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92440" y="3493008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65592" y="3493008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1536 чисел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2525B"/>
                </a:solidFill>
                <a:latin typeface="Arial"/>
              </a:rPr>
              <a:t>признаки текста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144000" y="3685032"/>
            <a:ext cx="320040" cy="210312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83080" y="4864608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103120" y="4462272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176272" y="4462272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Поведение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290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703320" y="4462272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776472" y="4462272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27272A"/>
                </a:solidFill>
                <a:latin typeface="Arial"/>
              </a:rPr>
              <a:t>каждые 20 с: 16 кадров → Qwen-VL пишет, что делает человек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436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217920" y="4462272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91072" y="4462272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81812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092440" y="4462272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65592" y="4462272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1536 чисел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2525B"/>
                </a:solidFill>
                <a:latin typeface="Arial"/>
              </a:rPr>
              <a:t>признаки описания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144000" y="4142232"/>
            <a:ext cx="320040" cy="72237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46404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464040" y="2240280"/>
            <a:ext cx="2148840" cy="251460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Графовое слияние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обучил я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7272A"/>
                </a:solidFill>
                <a:latin typeface="Arial"/>
              </a:rPr>
              <a:t/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четыре набора признаков сводятся вместе с учётом связей между ними (графовое и перекрёстное внимание)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533888" y="4754880"/>
            <a:ext cx="0" cy="22860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464040" y="4983480"/>
            <a:ext cx="2148840" cy="685800"/>
          </a:xfrm>
          <a:prstGeom prst="roundRect">
            <a:avLst>
              <a:gd name="adj" fmla="val 10666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7192" y="4983480"/>
            <a:ext cx="2002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Big Five + «собеседование»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шесть чисел от 0 до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" y="5394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голубой — готовые веса, не дообучались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84048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18795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светло-серый — подготовка данных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9494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29691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оранжевый — обучил 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Что такое «1024 числа»: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кодировщик сжимает лицо, голос или текст каждого 20-секундного отрезка в набор чисел фиксированной длины; слияние работает только с этими наборами. </a:t>
            </a:r>
            <a:r>
              <a:rPr sz="1050" b="1" i="0">
                <a:solidFill>
                  <a:srgbClr val="27272A"/>
                </a:solidFill>
                <a:latin typeface="Arial"/>
              </a:rPr>
              <a:t>Как обучал: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на 6000 роликах First Impressions V2, пять запусков и усреднение; ансамбль с OCEAN-AI точнее любой из двух систем.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C2410C"/>
                </a:solidFill>
                <a:latin typeface="Arial"/>
              </a:rPr>
              <a:t>Почему не всё с нуля: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обучить собственные кодировщики лица, голоса и текста можно, но для этого нужны десятки тысяч размеченных роликов. Открытых размеченных данных хватает только на слияние — его я и обучил.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Конвейер сегодня: от ролика до отчёта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Один проход по ролику даёт оценку личности, эмоции, голос, мимику и манеру речи на общей оси времени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1463040" cy="1188720"/>
          </a:xfrm>
          <a:prstGeom prst="roundRect">
            <a:avLst>
              <a:gd name="adj" fmla="val 6153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2651760"/>
            <a:ext cx="131673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Ролик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любой длины, речь русская или английская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3246120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2651760"/>
            <a:ext cx="1737360" cy="1188720"/>
          </a:xfrm>
          <a:prstGeom prst="roundRect">
            <a:avLst>
              <a:gd name="adj" fmla="val 615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59152" y="2651760"/>
            <a:ext cx="159105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Отрезки по 20 с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весь ролик без пропусков; Whisper распознаёт речь с метками времени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81144" y="1673352"/>
            <a:ext cx="146304" cy="146304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18888" y="160020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Big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188366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каждые 20 с: OCEAN-AI (лицо 5 кадров в секунду, голос, текст) + моя модель — основная оценка и второе мнение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023360" y="1911095"/>
            <a:ext cx="411480" cy="1335025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34840" y="237744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81144" y="2496312"/>
            <a:ext cx="146304" cy="146304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18888" y="242316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Эмоции по смыслу речи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70662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каждые 20 с: EmoRoBERTa читает сказанное → семь эмоций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023360" y="2734056"/>
            <a:ext cx="411480" cy="51206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34840" y="320040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81144" y="3319272"/>
            <a:ext cx="146304" cy="1463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18888" y="324612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52958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каждые 20 с: wav2vec2 слушает голос → возбуждение, уверенность, позитивность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3246120"/>
            <a:ext cx="411480" cy="31089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34840" y="402336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81144" y="4142232"/>
            <a:ext cx="146304" cy="14630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406908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35254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каждые 20 с: 12 кадров → выражение лица (7 классов) + движение головы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3246120"/>
            <a:ext cx="411480" cy="113385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34840" y="48463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81144" y="4965192"/>
            <a:ext cx="146304" cy="146304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18888" y="489204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517550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по всему транскрипту: темп, паузы, слова-заполнители, длина фразы, словарь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23360" y="3246120"/>
            <a:ext cx="411480" cy="1956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155448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85632" y="155448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Объяснения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ключевые кадры, вклад каждой модальности, слова, повлиявшие на оценку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288036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85632" y="288036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Понятный русский текст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краткие выводы из чисел; описания и транскрипт переводит локальная языковая модель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2062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85632" y="4206240"/>
            <a:ext cx="305409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Страница и печатный отчёт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графики по ходу ролика, тепловая карта эмоций, профиль Big Five, второе мнение, PDF на 7 страниц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911095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001000" y="273405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01000" y="355701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37997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01000" y="520293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1911095"/>
            <a:ext cx="0" cy="3291841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212140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44728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937760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12680" y="269748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012680" y="402336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Как смотрю ролик: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целиком, без пропусков, отрезками по 20 с. Внутри отрезка: лицо — 30 кадров для моей модели и 5 кадров в секунду для OCEAN-AI, описание поведения — по 16 кадрам, мимика — по 12 кадрам, звук и речь — полностью.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Всё локально: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одна видеокарта, данные не покидают компьютер. Обработка занимает примерно столько же, сколько длится ролик.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Что получилось к сегодняшнему дню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Рабочая система с проверенной точностью и понятным отчётом на русском языке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0.927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точность ансамбля** на тестовой части First Impressions V2; в статье — 0.918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9000" y="15361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194560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русских роликов обработано целиком,
создана опорная группа для сравнения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5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черт Big Five и дополнительных
измерений: эмоции, голос, мимика, речь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0175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309067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≈ 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749039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время обработки к длине ролика:
шестиминутный ролик — около 7 минут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943600" y="1371600"/>
          <a:ext cx="566928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480560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* График построен на тестовой части First Impressions V2: 1997 роликов по 15 с, каждый заранее оценён по пяти чертам группой наблюдателей. Для каждого ролика я сравнил оценки системы с оценками людей; CCC учитывает и уровень, и порядок оценок. Число для статьи — из публикации MM-PSYCHE. Ось начинается с 0.5, чтобы различия были видны.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** 0.927 = 1 − средняя ошибка: на тех же 1997 роликах оценка ансамбля отличалась от оценки людей в среднем на 0.073 балла по шкале от 0 до 1 (среднее по пяти чертам). У статьи MM-PSYCHE тот же показатель — 0.918.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7272A"/>
                </a:solidFill>
                <a:latin typeface="Arial"/>
              </a:rPr>
              <a:t>Что человек получает по каждому ролику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58368" y="5504688"/>
            <a:ext cx="109728" cy="1097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Профиль Big Five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оценка и второе мнение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14016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523744" y="5504688"/>
            <a:ext cx="109728" cy="10972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706624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Эмоции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3744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по речи и по лицу, по ходу ролика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9392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389120" y="5504688"/>
            <a:ext cx="109728" cy="1097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возбуждение, уверенность, позитивность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254496" y="550468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6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лица, движение головы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19871" y="5504688"/>
            <a:ext cx="109728" cy="109728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1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частые слова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19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985247" y="5504688"/>
            <a:ext cx="109728" cy="109728"/>
          </a:xfrm>
          <a:prstGeom prst="ellipse">
            <a:avLst/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68128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Объяснения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7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кадры, вклад модальностей, слова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Как нам дальше улучшить систему?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Девяти роликов хватило, чтобы запустить систему, но не чтобы сверить её с мнением людей и настроить. Вот что для этого нужно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Ролики и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Записать ещё ролики: человек говорит в камеру, лицо крупно, русская речь, 3–10 минут, разные люди и условия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30 роликов — сравнение систем; 100 — калибровка шкалы; от 300 — дообучение на русском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Согласие участников на обработку и хранение видео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Письмо авторам: корпус MuPTA (русская речь, выдаётся по запросу) и веса SSL-MEPR для лица и тела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98848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Оценки живых людей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Каждый ролик смотрят не меньше трёх человек, не знакомых с тем, кто в кадре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Пять черт по шкале 1–7: «каким этот человек кажется», плюс «пригласил бы на собеседование»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Одна короткая инструкция для всех, оценки не обсуждаются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Единая таблица разметки; согласие оценщиков между собой — мера того, чего вообще можно достичь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66175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Разметка профайлера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Время начала и конца каждого эпизода (не скриншоты) — в программе разметки или в таблице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Размечен весь ролик или заданные отрезки, включая отметки «ничего заметного»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Определения паттернов («влево» — с точки зрения говорящего или зрителя), сила эпизода 1–3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Второй разметчик на 20–30 % материала; ориентир — 30 эпизодов на паттерн у 10 человек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Что это даст: </a:t>
            </a:r>
            <a:r>
              <a:rPr sz="1100" b="0" i="0">
                <a:solidFill>
                  <a:srgbClr val="27272A"/>
                </a:solidFill>
                <a:latin typeface="Arial"/>
              </a:rPr>
              <a:t>измерить точность на русскоязычных роликах и выбрать шкалу, откалибровать оценки под мнение людей, проверить эмоции, голос и мимику, настроить поиск поведенческих паттернов.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Собственная модель для русской речи </a:t>
            </a:r>
            <a:r>
              <a:rPr sz="1100" b="0" i="0">
                <a:solidFill>
                  <a:srgbClr val="27272A"/>
                </a:solidFill>
                <a:latin typeface="Arial"/>
              </a:rPr>
              <a:t>возможна, но только на большом числе размеченных роликов: от 300 — дообучение, тысячи — обучение с нуля. Поэтому данные и разметка сейчас важнее любого нового кода.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